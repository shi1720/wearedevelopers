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f82bbd42c845a6" /><Relationship Type="http://schemas.openxmlformats.org/officeDocument/2006/relationships/extended-properties" Target="/docProps/app.xml" Id="R597dd18b57bd4130" /><Relationship Type="http://schemas.openxmlformats.org/officeDocument/2006/relationships/officeDocument" Target="/ppt/presentation.xml" Id="Raa182fc3ec0f4759" /></Relationships>
</file>

<file path=ppt/presentation.xml><?xml version="1.0" encoding="utf-8"?>
<p:presentation xmlns:p="http://schemas.openxmlformats.org/presentationml/2006/main">
  <p:sldMasterIdLst>
    <p:sldMasterId xmlns:r="http://schemas.openxmlformats.org/officeDocument/2006/relationships" id="2147483648" r:id="R1a6cde42c5114752"/>
  </p:sldMasterIdLst>
  <p:notesMasterIdLst>
    <p:notesMasterId xmlns:r="http://schemas.openxmlformats.org/officeDocument/2006/relationships" r:id="R17313d5034f44e74"/>
  </p:notesMasterIdLst>
  <p:sldIdLst>
    <p:sldId xmlns:r="http://schemas.openxmlformats.org/officeDocument/2006/relationships" id="256" r:id="Re04bbfaf53c64963"/>
    <p:sldId xmlns:r="http://schemas.openxmlformats.org/officeDocument/2006/relationships" id="257" r:id="Rd29c99210ef9438a"/>
    <p:sldId xmlns:r="http://schemas.openxmlformats.org/officeDocument/2006/relationships" id="258" r:id="Rdc0ca1fd8aff4a81"/>
    <p:sldId xmlns:r="http://schemas.openxmlformats.org/officeDocument/2006/relationships" id="259" r:id="Rf18af8f4457d44e7"/>
    <p:sldId xmlns:r="http://schemas.openxmlformats.org/officeDocument/2006/relationships" id="260" r:id="Rb4093254e8f54b2e"/>
    <p:sldId xmlns:r="http://schemas.openxmlformats.org/officeDocument/2006/relationships" id="261" r:id="Rc52980b6c1db439f"/>
    <p:sldId xmlns:r="http://schemas.openxmlformats.org/officeDocument/2006/relationships" id="262" r:id="Rce135e5397854820"/>
    <p:sldId xmlns:r="http://schemas.openxmlformats.org/officeDocument/2006/relationships" id="263" r:id="R3434f40534cd46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bf144fc1e64510" /><Relationship Type="http://schemas.openxmlformats.org/officeDocument/2006/relationships/slideMaster" Target="/ppt/slideMasters/slideMaster1.xml" Id="R1a6cde42c5114752" /><Relationship Type="http://schemas.openxmlformats.org/officeDocument/2006/relationships/notesMaster" Target="/ppt/notesMasters/notesMaster1.xml" Id="R17313d5034f44e74" /><Relationship Type="http://schemas.openxmlformats.org/officeDocument/2006/relationships/presProps" Target="/ppt/presProps.xml" Id="Rd7f86a96f4bd49d7" /><Relationship Type="http://schemas.openxmlformats.org/officeDocument/2006/relationships/tableStyles" Target="/ppt/tableStyles.xml" Id="R7627542fa43c40c5" /><Relationship Type="http://schemas.openxmlformats.org/officeDocument/2006/relationships/slide" Target="/ppt/slides/slide1.xml" Id="Re04bbfaf53c64963" /><Relationship Type="http://schemas.openxmlformats.org/officeDocument/2006/relationships/slide" Target="/ppt/slides/slide2.xml" Id="Rd29c99210ef9438a" /><Relationship Type="http://schemas.openxmlformats.org/officeDocument/2006/relationships/slide" Target="/ppt/slides/slide3.xml" Id="Rdc0ca1fd8aff4a81" /><Relationship Type="http://schemas.openxmlformats.org/officeDocument/2006/relationships/slide" Target="/ppt/slides/slide4.xml" Id="Rf18af8f4457d44e7" /><Relationship Type="http://schemas.openxmlformats.org/officeDocument/2006/relationships/slide" Target="/ppt/slides/slide5.xml" Id="Rb4093254e8f54b2e" /><Relationship Type="http://schemas.openxmlformats.org/officeDocument/2006/relationships/slide" Target="/ppt/slides/slide6.xml" Id="Rc52980b6c1db439f" /><Relationship Type="http://schemas.openxmlformats.org/officeDocument/2006/relationships/slide" Target="/ppt/slides/slide7.xml" Id="Rce135e5397854820" /><Relationship Type="http://schemas.openxmlformats.org/officeDocument/2006/relationships/slide" Target="/ppt/slides/slide8.xml" Id="R3434f40534cd46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b358d9c3d947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44311a977a4f13" /><Relationship Type="http://schemas.openxmlformats.org/officeDocument/2006/relationships/notesMaster" Target="/ppt/notesMasters/notesMaster1.xml" Id="Rb73e376870ee48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cfdeffbacf449e" /><Relationship Type="http://schemas.openxmlformats.org/officeDocument/2006/relationships/notesMaster" Target="/ppt/notesMasters/notesMaster1.xml" Id="Rfc6cde64cdd348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5de88512854a1b" /><Relationship Type="http://schemas.openxmlformats.org/officeDocument/2006/relationships/notesMaster" Target="/ppt/notesMasters/notesMaster1.xml" Id="R9be4575dfd7d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03953651f1499b" /><Relationship Type="http://schemas.openxmlformats.org/officeDocument/2006/relationships/notesMaster" Target="/ppt/notesMasters/notesMaster1.xml" Id="Rf43ff4d378674c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fee065f30c4c62" /><Relationship Type="http://schemas.openxmlformats.org/officeDocument/2006/relationships/notesMaster" Target="/ppt/notesMasters/notesMaster1.xml" Id="Rab71e6c4ee6744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87599a9d4147f1" /><Relationship Type="http://schemas.openxmlformats.org/officeDocument/2006/relationships/notesMaster" Target="/ppt/notesMasters/notesMaster1.xml" Id="Re6383ac47a944d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00601649914946" /><Relationship Type="http://schemas.openxmlformats.org/officeDocument/2006/relationships/notesMaster" Target="/ppt/notesMasters/notesMaster1.xml" Id="R9c3803be2e6e42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dad4c0a07c4963" /><Relationship Type="http://schemas.openxmlformats.org/officeDocument/2006/relationships/notesMaster" Target="/ppt/notesMasters/notesMaster1.xml" Id="R9ce00a67ac4a4c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Shivam Gupta: product direction and factory configuration. BAND coding-agent seats own implementation and verification. All four stages accepted. Service execution complete; video remains a separate submission deliverable. Illustration generated for this project, not a photograph. Source: factory/tasks/dispatch.md.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not an observed customer incident. Commercial thesis in docs/COMMERCIAL-THESIS.md. No claimed customer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assets/band-desktop-stage4-review.png, docs/ASSET-PROVENANCE.md, factory/tasks/dispatch.md and mandate files. Authentic screenshot captured by operator while stage4 review was in progress. Native crop removes sidebar/composer margins and top estimate badge without altering the work/message evidence. Screenshot is a still and does not replace mandatory room recording. The $131 app badge in original is an estimate, not provider billed spend, and is not used as measured cost. Runtime interruption recovered by operator in same room with same BAND seats but new provider sessions. No new task or implementation hints.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evidence: evidence/final/verification.md at acceptance commit330f1c8. Exact tested repository revision aa816477c6a2a40b528a28c362a7ec67bfc566a1. Frozen stage4 implementation53617a341d21ebae3d76761f41b6ea4d38bc2a6c, service/static unchanged. Official all-stage isolated and fresh git clone --no-local isolated runs each passed stage1:120, stage2:145, stage3:152, stage4:158. Both commands exit0. Earlier-stage next-suite failures were expected overshoot checks. Counts include inherited suites and are not575 unique requirements. Stage4host158pass. Official spec803560d2a678ace1414465c098eb0ab5380ffade unchanged. Public checks are partial and do not prove exhaustive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specifications: /tmp/proofline-official-spec/tablekeeper/spec/stage-1.md through stage-4.md. Commit 803560d2a678ace1414465c098eb0ab5380ffade. Sources are task requirements, not implementation evidence. Actual author-stage screenshot: evidence/stage-4-experience/stage4-manager-desktop.png, recorded against author candidate 98abd1cd5262ac684c4c17a35d1553786691020d. Synthetic venue The Orangery. Native image crop enlarges the preview summary and moved booking; other assignments and apply control remain available in original screenshot. Screenshot proves visible preview only. Independent stage4 acceptance and final execution evidence establish tested behavior at the frozen revision, not exhaustive correctness. Stage 4 bounds: 6 tables, 4 declared pairs, 6 considered bookings. All overlapping confirmed bookings count. All four stages accepted; see evidence/final/verification.md. Screenshot retains its original author-stage capture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evidence: evidence/stage-3/review-01.md and evidence/stage-3/verification.md. Rejected candidate 835401316b3feb1d845da13478e72b90def427a9 passed published host 120+25+7, but independent source-derived regression exposed import accepting permanent exception corruption. Regression d2a871891627efdc5d34dab05bd6853686a49705. Engineer fix 8a12344510a97d7ee20a4326935cacc3ab00798e independently passed 47 HTTP checks together, plus 3 additional tests separately, 7 browser and 3 product checks, 62 implementation tests, and official host/isolated suites 120+25+7. Do not claim one combined 50-test run. No reviewer service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economics are planning assumptions. Source: docs/COMMERCIAL-THESIS.md, research checked 27 September 2026. $79 price, $24 compute, $7.20 backups, $5 monitoring/email/data backup, $3 payment allowance, $10 support = $29.80. One support hour at $30 gives $9.80. No demand or savings validation. Competitors already offer flat pricing and table management: https://www.opentable.com/restaurant-solutions/plans/ ; https://resy.com/join/plans-pricing/ ; https://www.tablein.com/pricing . Backup rule: https://docs.digitalocean.com/products/backups/details/pricing/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evidence/final/verification.md, evidence/stage-4/independent/verification.md and evidence/final/usage-snapshot.json. Four accepted stage folders are complete buildable services with ephemeral state and judge test controls enabled by default. No public deployment or production certification claimed. Independent69/69 HTTP passed host and network=none with2CPU/2GiB, including24generated finite planner fixtures, not universal proof. Exact dispatch2026-09-27T11:36:12.525834Z (evidence/dispatch.json) to final report2026-09-27T18:00:17.507353Z is6h24m04.981519s, rounded6h24m, including idle/recovery. This replaces the coordinator report approximate6h22m52 based on an earlier completion observation. Actual provider bill unknown. BANDcatalog estimate131.32365 at17:56 relates to4attributed sessions, with restart-inclusive accounting uncertain; not used as total spend. Authentic room export room.json completed2026-09-27T18:01:32.735Z,3540messages,4953277bytes,SHA2565608a22b314bb25ddb46b8e1004581a3480c04f46bd3219f28483cf40eb22fbb. Publication audit managed by operator. Recorded walkthrough remains a separate required submission asset. Screenshot still does not satisfy required room video. Same BAND seats/room restarted after interruption, new provider sessions, no new human task/implementation hints. Cross-engine/screen-reader certification, durable state, restore operations and internet-production readiness are not established. Current amended-series summary refresh remains a disclosed UX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62d4bee67045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c9a4915dc945ec" /><Relationship Type="http://schemas.openxmlformats.org/officeDocument/2006/relationships/slideLayout" Target="/ppt/slideLayouts/slideLayout1.xml" Id="Re02795a69fd246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2795a69fd246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a7bd3e7e874d9d" /><Relationship Type="http://schemas.openxmlformats.org/officeDocument/2006/relationships/image" Target="/ppt/media/image.png" Id="R0772218f0dd14c6c" /><Relationship Type="http://schemas.openxmlformats.org/officeDocument/2006/relationships/notesSlide" Target="/ppt/notesSlides/notesSlide1.xml" Id="R1d8ffe7736a64b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49f40b8ae44c26" /><Relationship Type="http://schemas.openxmlformats.org/officeDocument/2006/relationships/notesSlide" Target="/ppt/notesSlides/notesSlide2.xml" Id="Ra191c05ba6d848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84ab7ab09a4030" /><Relationship Type="http://schemas.openxmlformats.org/officeDocument/2006/relationships/image" Target="/ppt/media/image.jpeg" Id="R7edd031ae4bb4a41" /><Relationship Type="http://schemas.openxmlformats.org/officeDocument/2006/relationships/notesSlide" Target="/ppt/notesSlides/notesSlide3.xml" Id="R6b72372e379645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42c43cc4034685" /><Relationship Type="http://schemas.openxmlformats.org/officeDocument/2006/relationships/notesSlide" Target="/ppt/notesSlides/notesSlide4.xml" Id="R9ce241b2c7604f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11a69a4a1549f3" /><Relationship Type="http://schemas.openxmlformats.org/officeDocument/2006/relationships/image" Target="/ppt/media/image2.png" Id="Rab86a954f18f4b90" /><Relationship Type="http://schemas.openxmlformats.org/officeDocument/2006/relationships/notesSlide" Target="/ppt/notesSlides/notesSlide5.xml" Id="R2393baf931dd45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6e00012fc44a99" /><Relationship Type="http://schemas.openxmlformats.org/officeDocument/2006/relationships/notesSlide" Target="/ppt/notesSlides/notesSlide6.xml" Id="Rc2deca3092c545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86d6d95f394c41" /><Relationship Type="http://schemas.openxmlformats.org/officeDocument/2006/relationships/notesSlide" Target="/ppt/notesSlides/notesSlide7.xml" Id="Rf8302c38520941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a89e03b0a149b3" /><Relationship Type="http://schemas.openxmlformats.org/officeDocument/2006/relationships/notesSlide" Target="/ppt/notesSlides/notesSlide8.xml" Id="Ra685c6a79246458b" /></Relationships>
</file>

<file path=ppt/slides/slide1.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772218f0dd14c6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0F6ED7-A0A3-4766-BD85-20B8FD67E498}"/>
              </a:ext>
            </a:extLst>
          </p:cNvPr>
          <p:cNvSpPr>
            <a:spLocks xmlns:a="http://schemas.openxmlformats.org/drawingml/2006/main" noGrp="1"/>
          </p:cNvSpPr>
          <p:nvPr/>
        </p:nvSpPr>
        <p:spPr>
          <a:xfrm xmlns:a="http://schemas.openxmlformats.org/drawingml/2006/main">
            <a:off x="552450" y="5905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A6452B"/>
                </a:solidFill>
                <a:latin typeface="Aptos"/>
                <a:ea typeface="Aptos"/>
                <a:cs typeface="Aptos"/>
              </a:defRPr>
            </a:pPr>
            <a:r>
              <a:rPr sz="1575" b="1">
                <a:solidFill>
                  <a:srgbClr val="A6452B"/>
                </a:solidFill>
                <a:latin typeface="Aptos"/>
                <a:ea typeface="Aptos"/>
                <a:cs typeface="Aptos"/>
              </a:rPr>
              <a:t>PROOFLINE</a:t>
            </a:r>
          </a:p>
        </p:txBody>
      </p:sp>
      <p:sp>
        <p:nvSpPr>
          <p:cNvPr id="3" name="">
            <a:extLst xmlns:a="http://schemas.openxmlformats.org/drawingml/2006/main">
              <a:ext uri="{FF2B5EF4-FFF2-40B4-BE49-F238E27FC236}">
                <a16:creationId xmlns:a16="http://schemas.microsoft.com/office/drawing/2014/main" id="{8B2C7364-B36F-4B1B-9110-76E7D06B67B2}"/>
              </a:ext>
            </a:extLst>
          </p:cNvPr>
          <p:cNvSpPr>
            <a:spLocks xmlns:a="http://schemas.openxmlformats.org/drawingml/2006/main" noGrp="1"/>
          </p:cNvSpPr>
          <p:nvPr/>
        </p:nvSpPr>
        <p:spPr>
          <a:xfrm xmlns:a="http://schemas.openxmlformats.org/drawingml/2006/main">
            <a:off x="514350" y="1638300"/>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173D32"/>
                </a:solidFill>
                <a:latin typeface="Aptos"/>
                <a:ea typeface="Aptos"/>
                <a:cs typeface="Aptos"/>
              </a:defRPr>
            </a:pPr>
            <a:r>
              <a:rPr sz="5250" b="1">
                <a:solidFill>
                  <a:srgbClr val="173D32"/>
                </a:solidFill>
                <a:latin typeface="Aptos"/>
                <a:ea typeface="Aptos"/>
                <a:cs typeface="Aptos"/>
              </a:rPr>
              <a:t>Tablekeeper</a:t>
            </a:r>
          </a:p>
        </p:txBody>
      </p:sp>
      <p:sp>
        <p:nvSpPr>
          <p:cNvPr id="4" name="">
            <a:extLst xmlns:a="http://schemas.openxmlformats.org/drawingml/2006/main">
              <a:ext uri="{FF2B5EF4-FFF2-40B4-BE49-F238E27FC236}">
                <a16:creationId xmlns:a16="http://schemas.microsoft.com/office/drawing/2014/main" id="{1E49A32E-FC99-4438-BF08-4438CA7A5529}"/>
              </a:ext>
            </a:extLst>
          </p:cNvPr>
          <p:cNvSpPr>
            <a:spLocks xmlns:a="http://schemas.openxmlformats.org/drawingml/2006/main" noGrp="1"/>
          </p:cNvSpPr>
          <p:nvPr/>
        </p:nvSpPr>
        <p:spPr>
          <a:xfrm xmlns:a="http://schemas.openxmlformats.org/drawingml/2006/main">
            <a:off x="552450" y="2743200"/>
            <a:ext cx="419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73D32"/>
                </a:solidFill>
                <a:latin typeface="Aptos"/>
                <a:ea typeface="Aptos"/>
                <a:cs typeface="Aptos"/>
              </a:defRPr>
            </a:pPr>
            <a:r>
              <a:rPr sz="3225" b="0">
                <a:solidFill>
                  <a:srgbClr val="173D32"/>
                </a:solidFill>
                <a:latin typeface="Aptos"/>
                <a:ea typeface="Aptos"/>
                <a:cs typeface="Aptos"/>
              </a:rPr>
              <a:t>Keep the promise,</a:t>
            </a:r>
          </a:p>
          <a:p xmlns:a="http://schemas.openxmlformats.org/drawingml/2006/main">
            <a:pPr>
              <a:defRPr sz="3225" b="0">
                <a:solidFill>
                  <a:srgbClr val="173D32"/>
                </a:solidFill>
                <a:latin typeface="Aptos"/>
                <a:ea typeface="Aptos"/>
                <a:cs typeface="Aptos"/>
              </a:defRPr>
            </a:pPr>
            <a:r>
              <a:rPr sz="3225" b="0">
                <a:solidFill>
                  <a:srgbClr val="173D32"/>
                </a:solidFill>
                <a:latin typeface="Aptos"/>
                <a:ea typeface="Aptos"/>
                <a:cs typeface="Aptos"/>
              </a:rPr>
              <a:t>even when the</a:t>
            </a:r>
          </a:p>
          <a:p xmlns:a="http://schemas.openxmlformats.org/drawingml/2006/main">
            <a:pPr>
              <a:defRPr sz="3225" b="0">
                <a:solidFill>
                  <a:srgbClr val="173D32"/>
                </a:solidFill>
                <a:latin typeface="Aptos"/>
                <a:ea typeface="Aptos"/>
                <a:cs typeface="Aptos"/>
              </a:defRPr>
            </a:pPr>
            <a:r>
              <a:rPr sz="3225" b="0">
                <a:solidFill>
                  <a:srgbClr val="173D32"/>
                </a:solidFill>
                <a:latin typeface="Aptos"/>
                <a:ea typeface="Aptos"/>
                <a:cs typeface="Aptos"/>
              </a:rPr>
              <a:t>floor changes.</a:t>
            </a:r>
          </a:p>
        </p:txBody>
      </p:sp>
      <p:sp>
        <p:nvSpPr>
          <p:cNvPr id="5" name="">
            <a:extLst xmlns:a="http://schemas.openxmlformats.org/drawingml/2006/main">
              <a:ext uri="{FF2B5EF4-FFF2-40B4-BE49-F238E27FC236}">
                <a16:creationId xmlns:a16="http://schemas.microsoft.com/office/drawing/2014/main" id="{A931B20A-DE03-4809-A7C6-120B388DA622}"/>
              </a:ext>
            </a:extLst>
          </p:cNvPr>
          <p:cNvSpPr>
            <a:spLocks xmlns:a="http://schemas.openxmlformats.org/drawingml/2006/main" noGrp="1"/>
          </p:cNvSpPr>
          <p:nvPr/>
        </p:nvSpPr>
        <p:spPr>
          <a:xfrm xmlns:a="http://schemas.openxmlformats.org/drawingml/2006/main">
            <a:off x="571500" y="496252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5D"/>
                </a:solidFill>
                <a:latin typeface="Aptos"/>
                <a:ea typeface="Aptos"/>
                <a:cs typeface="Aptos"/>
              </a:defRPr>
            </a:pPr>
            <a:r>
              <a:rPr sz="1725" b="0">
                <a:solidFill>
                  <a:srgbClr val="53675D"/>
                </a:solidFill>
                <a:latin typeface="Aptos"/>
                <a:ea typeface="Aptos"/>
                <a:cs typeface="Aptos"/>
              </a:rPr>
              <a:t>A reusable agent factory.</a:t>
            </a:r>
          </a:p>
          <a:p xmlns:a="http://schemas.openxmlformats.org/drawingml/2006/main">
            <a:pPr>
              <a:defRPr sz="1725" b="0">
                <a:solidFill>
                  <a:srgbClr val="53675D"/>
                </a:solidFill>
                <a:latin typeface="Aptos"/>
                <a:ea typeface="Aptos"/>
                <a:cs typeface="Aptos"/>
              </a:defRPr>
            </a:pPr>
            <a:r>
              <a:rPr sz="1725" b="0">
                <a:solidFill>
                  <a:srgbClr val="53675D"/>
                </a:solidFill>
                <a:latin typeface="Aptos"/>
                <a:ea typeface="Aptos"/>
                <a:cs typeface="Aptos"/>
              </a:rPr>
              <a:t>A restaurant reservation service.</a:t>
            </a:r>
          </a:p>
        </p:txBody>
      </p:sp>
      <p:sp>
        <p:nvSpPr>
          <p:cNvPr id="6" name="">
            <a:extLst xmlns:a="http://schemas.openxmlformats.org/drawingml/2006/main">
              <a:ext uri="{FF2B5EF4-FFF2-40B4-BE49-F238E27FC236}">
                <a16:creationId xmlns:a16="http://schemas.microsoft.com/office/drawing/2014/main" id="{6CC7D31B-DA65-4759-AC37-0CAC41DE013D}"/>
              </a:ext>
            </a:extLst>
          </p:cNvPr>
          <p:cNvSpPr>
            <a:spLocks xmlns:a="http://schemas.openxmlformats.org/drawingml/2006/main" noGrp="1"/>
          </p:cNvSpPr>
          <p:nvPr/>
        </p:nvSpPr>
        <p:spPr>
          <a:xfrm xmlns:a="http://schemas.openxmlformats.org/drawingml/2006/main">
            <a:off x="571500" y="62103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D32"/>
                </a:solidFill>
                <a:latin typeface="Aptos"/>
                <a:ea typeface="Aptos"/>
                <a:cs typeface="Aptos"/>
              </a:defRPr>
            </a:pPr>
            <a:r>
              <a:rPr sz="1350" b="0">
                <a:solidFill>
                  <a:srgbClr val="173D32"/>
                </a:solidFill>
                <a:latin typeface="Aptos"/>
                <a:ea typeface="Aptos"/>
                <a:cs typeface="Aptos"/>
              </a:rPr>
              <a:t>Shivam Gupta  ·  Dark Factory 2026</a:t>
            </a:r>
          </a:p>
        </p:txBody>
      </p:sp>
    </p:spTree>
    <p:extLst>
      <p:ext uri="{BB962C8B-B14F-4D97-AF65-F5344CB8AC3E}">
        <p14:creationId xmlns:p14="http://schemas.microsoft.com/office/powerpoint/2010/main" val="1072018890"/>
      </p:ext>
    </p:extLst>
  </p:cSld>
</p:sld>
</file>

<file path=ppt/slides/slide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B7C72D-47D7-4DA9-972F-276037462879}"/>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73D32"/>
                </a:solidFill>
                <a:latin typeface="Aptos"/>
                <a:ea typeface="Aptos"/>
                <a:cs typeface="Aptos"/>
              </a:defRPr>
            </a:pPr>
            <a:r>
              <a:rPr sz="3675" b="1">
                <a:solidFill>
                  <a:srgbClr val="173D32"/>
                </a:solidFill>
                <a:latin typeface="Aptos"/>
                <a:ea typeface="Aptos"/>
                <a:cs typeface="Aptos"/>
              </a:rPr>
              <a:t>A booking is a promise to a guest</a:t>
            </a:r>
          </a:p>
        </p:txBody>
      </p:sp>
      <p:sp>
        <p:nvSpPr>
          <p:cNvPr id="2" name="">
            <a:extLst xmlns:a="http://schemas.openxmlformats.org/drawingml/2006/main">
              <a:ext uri="{FF2B5EF4-FFF2-40B4-BE49-F238E27FC236}">
                <a16:creationId xmlns:a16="http://schemas.microsoft.com/office/drawing/2014/main" id="{4597BCFE-83E1-463C-AA73-37A3D4B0FFFE}"/>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5D"/>
                </a:solidFill>
                <a:latin typeface="Aptos"/>
                <a:ea typeface="Aptos"/>
                <a:cs typeface="Aptos"/>
              </a:defRPr>
            </a:pPr>
            <a:r>
              <a:rPr sz="1125" b="0">
                <a:solidFill>
                  <a:srgbClr val="53675D"/>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E2BEB22A-9B72-43AC-A7E2-8B627E3C08FB}"/>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5D"/>
                </a:solidFill>
                <a:latin typeface="Aptos"/>
                <a:ea typeface="Aptos"/>
                <a:cs typeface="Aptos"/>
              </a:defRPr>
            </a:pPr>
            <a:r>
              <a:rPr sz="1350" b="0">
                <a:solidFill>
                  <a:srgbClr val="53675D"/>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AE44ABB4-C32C-4017-9E76-8A30509207FD}"/>
              </a:ext>
            </a:extLst>
          </p:cNvPr>
          <p:cNvSpPr>
            <a:spLocks xmlns:a="http://schemas.openxmlformats.org/drawingml/2006/main" noGrp="1"/>
          </p:cNvSpPr>
          <p:nvPr/>
        </p:nvSpPr>
        <p:spPr>
          <a:xfrm xmlns:a="http://schemas.openxmlformats.org/drawingml/2006/main">
            <a:off x="666750" y="2143125"/>
            <a:ext cx="476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A6452B"/>
                </a:solidFill>
                <a:latin typeface="Aptos"/>
                <a:ea typeface="Aptos"/>
                <a:cs typeface="Aptos"/>
              </a:defRPr>
            </a:pPr>
            <a:r>
              <a:rPr sz="5700" b="1">
                <a:solidFill>
                  <a:srgbClr val="A6452B"/>
                </a:solidFill>
                <a:latin typeface="Aptos"/>
                <a:ea typeface="Aptos"/>
                <a:cs typeface="Aptos"/>
              </a:rPr>
              <a:t>7:00 PM</a:t>
            </a:r>
          </a:p>
        </p:txBody>
      </p:sp>
      <p:sp>
        <p:nvSpPr>
          <p:cNvPr id="5" name="">
            <a:extLst xmlns:a="http://schemas.openxmlformats.org/drawingml/2006/main">
              <a:ext uri="{FF2B5EF4-FFF2-40B4-BE49-F238E27FC236}">
                <a16:creationId xmlns:a16="http://schemas.microsoft.com/office/drawing/2014/main" id="{E54C43A5-93E9-448D-B6A2-2B34FD97D403}"/>
              </a:ext>
            </a:extLst>
          </p:cNvPr>
          <p:cNvSpPr>
            <a:spLocks xmlns:a="http://schemas.openxmlformats.org/drawingml/2006/main" noGrp="1"/>
          </p:cNvSpPr>
          <p:nvPr/>
        </p:nvSpPr>
        <p:spPr>
          <a:xfrm xmlns:a="http://schemas.openxmlformats.org/drawingml/2006/main">
            <a:off x="714375" y="3162300"/>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D32"/>
                </a:solidFill>
                <a:latin typeface="Aptos"/>
                <a:ea typeface="Aptos"/>
                <a:cs typeface="Aptos"/>
              </a:defRPr>
            </a:pPr>
            <a:r>
              <a:rPr sz="2625" b="0">
                <a:solidFill>
                  <a:srgbClr val="173D32"/>
                </a:solidFill>
                <a:latin typeface="Aptos"/>
                <a:ea typeface="Aptos"/>
                <a:cs typeface="Aptos"/>
              </a:rPr>
              <a:t>One table becomes unusable.</a:t>
            </a:r>
          </a:p>
          <a:p xmlns:a="http://schemas.openxmlformats.org/drawingml/2006/main">
            <a:pPr>
              <a:defRPr sz="2625" b="0">
                <a:solidFill>
                  <a:srgbClr val="173D32"/>
                </a:solidFill>
                <a:latin typeface="Aptos"/>
                <a:ea typeface="Aptos"/>
                <a:cs typeface="Aptos"/>
              </a:defRPr>
            </a:pPr>
            <a:r>
              <a:rPr sz="2625" b="0">
                <a:solidFill>
                  <a:srgbClr val="173D32"/>
                </a:solidFill>
                <a:latin typeface="Aptos"/>
                <a:ea typeface="Aptos"/>
                <a:cs typeface="Aptos"/>
              </a:rPr>
              <a:t>The guests are already on their way.</a:t>
            </a:r>
          </a:p>
        </p:txBody>
      </p:sp>
      <p:sp>
        <p:nvSpPr>
          <p:cNvPr id="6" name="">
            <a:extLst xmlns:a="http://schemas.openxmlformats.org/drawingml/2006/main">
              <a:ext uri="{FF2B5EF4-FFF2-40B4-BE49-F238E27FC236}">
                <a16:creationId xmlns:a16="http://schemas.microsoft.com/office/drawing/2014/main" id="{01DC16D0-FB55-4FA9-81BF-35089E1876A2}"/>
              </a:ext>
            </a:extLst>
          </p:cNvPr>
          <p:cNvSpPr>
            <a:spLocks xmlns:a="http://schemas.openxmlformats.org/drawingml/2006/main" noGrp="1"/>
          </p:cNvSpPr>
          <p:nvPr/>
        </p:nvSpPr>
        <p:spPr>
          <a:xfrm xmlns:a="http://schemas.openxmlformats.org/drawingml/2006/main">
            <a:off x="7000875" y="2171700"/>
            <a:ext cx="442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2"/>
                </a:solidFill>
                <a:latin typeface="Aptos"/>
                <a:ea typeface="Aptos"/>
                <a:cs typeface="Aptos"/>
              </a:defRPr>
            </a:pPr>
            <a:r>
              <a:rPr sz="2325" b="1">
                <a:solidFill>
                  <a:srgbClr val="173D32"/>
                </a:solidFill>
                <a:latin typeface="Aptos"/>
                <a:ea typeface="Aptos"/>
                <a:cs typeface="Aptos"/>
              </a:rPr>
              <a:t>The host needs a safe answer</a:t>
            </a:r>
          </a:p>
        </p:txBody>
      </p:sp>
      <p:sp>
        <p:nvSpPr>
          <p:cNvPr id="7" name="">
            <a:extLst xmlns:a="http://schemas.openxmlformats.org/drawingml/2006/main">
              <a:ext uri="{FF2B5EF4-FFF2-40B4-BE49-F238E27FC236}">
                <a16:creationId xmlns:a16="http://schemas.microsoft.com/office/drawing/2014/main" id="{E72B0F1B-57DF-4851-B00A-75BC12D62B35}"/>
              </a:ext>
            </a:extLst>
          </p:cNvPr>
          <p:cNvSpPr>
            <a:spLocks xmlns:a="http://schemas.openxmlformats.org/drawingml/2006/main" noGrp="1"/>
          </p:cNvSpPr>
          <p:nvPr/>
        </p:nvSpPr>
        <p:spPr>
          <a:xfrm xmlns:a="http://schemas.openxmlformats.org/drawingml/2006/main">
            <a:off x="7000875" y="3076575"/>
            <a:ext cx="4381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2"/>
                </a:solidFill>
                <a:latin typeface="Aptos"/>
                <a:ea typeface="Aptos"/>
                <a:cs typeface="Aptos"/>
              </a:defRPr>
            </a:pPr>
            <a:r>
              <a:rPr sz="2175" b="0">
                <a:solidFill>
                  <a:srgbClr val="173D32"/>
                </a:solidFill>
                <a:latin typeface="Aptos"/>
                <a:ea typeface="Aptos"/>
                <a:cs typeface="Aptos"/>
              </a:rPr>
              <a:t>Who needs to move?</a:t>
            </a:r>
          </a:p>
          <a:p xmlns:a="http://schemas.openxmlformats.org/drawingml/2006/main">
            <a:pPr>
              <a:defRPr sz="2175" b="0">
                <a:solidFill>
                  <a:srgbClr val="173D32"/>
                </a:solidFill>
                <a:latin typeface="Aptos"/>
                <a:ea typeface="Aptos"/>
                <a:cs typeface="Aptos"/>
              </a:defRPr>
            </a:pPr>
            <a:r>
              <a:rPr sz="2175" b="0">
                <a:solidFill>
                  <a:srgbClr val="173D32"/>
                </a:solidFill>
                <a:latin typeface="Aptos"/>
                <a:ea typeface="Aptos"/>
                <a:cs typeface="Aptos"/>
              </a:rPr>
              <a:t>Can everyone keep their time?</a:t>
            </a:r>
          </a:p>
          <a:p xmlns:a="http://schemas.openxmlformats.org/drawingml/2006/main">
            <a:pPr>
              <a:defRPr sz="2175" b="0">
                <a:solidFill>
                  <a:srgbClr val="173D32"/>
                </a:solidFill>
                <a:latin typeface="Aptos"/>
                <a:ea typeface="Aptos"/>
                <a:cs typeface="Aptos"/>
              </a:defRPr>
            </a:pPr>
            <a:r>
              <a:rPr sz="2175" b="0">
                <a:solidFill>
                  <a:srgbClr val="173D32"/>
                </a:solidFill>
                <a:latin typeface="Aptos"/>
                <a:ea typeface="Aptos"/>
                <a:cs typeface="Aptos"/>
              </a:rPr>
              <a:t>Will their agreed terms survive?</a:t>
            </a:r>
          </a:p>
        </p:txBody>
      </p:sp>
      <p:sp>
        <p:nvSpPr>
          <p:cNvPr id="8" name="">
            <a:extLst xmlns:a="http://schemas.openxmlformats.org/drawingml/2006/main">
              <a:ext uri="{FF2B5EF4-FFF2-40B4-BE49-F238E27FC236}">
                <a16:creationId xmlns:a16="http://schemas.microsoft.com/office/drawing/2014/main" id="{64A609E9-C465-46F2-BCCC-FD02477839D2}"/>
              </a:ext>
            </a:extLst>
          </p:cNvPr>
          <p:cNvSpPr>
            <a:spLocks xmlns:a="http://schemas.openxmlformats.org/drawingml/2006/main" noGrp="1"/>
          </p:cNvSpPr>
          <p:nvPr/>
        </p:nvSpPr>
        <p:spPr>
          <a:xfrm xmlns:a="http://schemas.openxmlformats.org/drawingml/2006/main">
            <a:off x="714375" y="54483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5D"/>
                </a:solidFill>
                <a:latin typeface="Aptos"/>
                <a:ea typeface="Aptos"/>
                <a:cs typeface="Aptos"/>
              </a:defRPr>
            </a:pPr>
            <a:r>
              <a:rPr sz="1650" b="0">
                <a:solidFill>
                  <a:srgbClr val="53675D"/>
                </a:solidFill>
                <a:latin typeface="Aptos"/>
                <a:ea typeface="Aptos"/>
                <a:cs typeface="Aptos"/>
              </a:rPr>
              <a:t>Illustrative service disruption. Frequency and willingness to pay still need customer research.</a:t>
            </a:r>
          </a:p>
        </p:txBody>
      </p:sp>
    </p:spTree>
    <p:extLst>
      <p:ext uri="{BB962C8B-B14F-4D97-AF65-F5344CB8AC3E}">
        <p14:creationId xmlns:p14="http://schemas.microsoft.com/office/powerpoint/2010/main" val="481724158"/>
      </p:ext>
    </p:extLst>
  </p:cSld>
</p:sld>
</file>

<file path=ppt/slides/slide3.xml><?xml version="1.0" encoding="utf-8"?>
<p:sld xmlns:p="http://schemas.openxmlformats.org/presentationml/2006/main">
  <p:cSld>
    <p:bg>
      <p:bgPr>
        <a:solidFill xmlns:a="http://schemas.openxmlformats.org/drawingml/2006/main">
          <a:srgbClr val="173D3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E84D15-8470-4529-9BE4-55447B8C5237}"/>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4EFE5"/>
                </a:solidFill>
                <a:latin typeface="Aptos"/>
                <a:ea typeface="Aptos"/>
                <a:cs typeface="Aptos"/>
              </a:defRPr>
            </a:pPr>
            <a:r>
              <a:rPr sz="3675" b="1">
                <a:solidFill>
                  <a:srgbClr val="F4EFE5"/>
                </a:solidFill>
                <a:latin typeface="Aptos"/>
                <a:ea typeface="Aptos"/>
                <a:cs typeface="Aptos"/>
              </a:rPr>
              <a:t>One dispatch. Four distinct seats.</a:t>
            </a:r>
          </a:p>
        </p:txBody>
      </p:sp>
      <p:sp>
        <p:nvSpPr>
          <p:cNvPr id="2" name="">
            <a:extLst xmlns:a="http://schemas.openxmlformats.org/drawingml/2006/main">
              <a:ext uri="{FF2B5EF4-FFF2-40B4-BE49-F238E27FC236}">
                <a16:creationId xmlns:a16="http://schemas.microsoft.com/office/drawing/2014/main" id="{F2BD19A6-673B-46D6-B59E-539DB1A8929B}"/>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2C1B8"/>
                </a:solidFill>
                <a:latin typeface="Aptos"/>
                <a:ea typeface="Aptos"/>
                <a:cs typeface="Aptos"/>
              </a:defRPr>
            </a:pPr>
            <a:r>
              <a:rPr sz="1125" b="0">
                <a:solidFill>
                  <a:srgbClr val="B2C1B8"/>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AA21DFBD-D5FE-484D-BF11-B596C735BE58}"/>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1B8"/>
                </a:solidFill>
                <a:latin typeface="Aptos"/>
                <a:ea typeface="Aptos"/>
                <a:cs typeface="Aptos"/>
              </a:defRPr>
            </a:pPr>
            <a:r>
              <a:rPr sz="1350" b="0">
                <a:solidFill>
                  <a:srgbClr val="B2C1B8"/>
                </a:solidFill>
                <a:latin typeface="Aptos"/>
                <a:ea typeface="Aptos"/>
                <a:cs typeface="Aptos"/>
              </a:rPr>
              <a:t>03</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edd031ae4bb4a41"/>
          <a:srcRect xmlns:a="http://schemas.openxmlformats.org/drawingml/2006/main" l="28500" t="9500" r="500" b="15000"/>
          <a:stretch xmlns:a="http://schemas.openxmlformats.org/drawingml/2006/main">
            <a:fillRect l="0" t="0" r="0" b="0"/>
          </a:stretch>
        </p:blipFill>
        <p:spPr>
          <a:xfrm xmlns:a="http://schemas.openxmlformats.org/drawingml/2006/main">
            <a:off x="666750" y="1600200"/>
            <a:ext cx="7715250" cy="431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905E36-5AA2-4639-9BEF-5F0119B075B3}"/>
              </a:ext>
            </a:extLst>
          </p:cNvPr>
          <p:cNvSpPr>
            <a:spLocks xmlns:a="http://schemas.openxmlformats.org/drawingml/2006/main" noGrp="1"/>
          </p:cNvSpPr>
          <p:nvPr/>
        </p:nvSpPr>
        <p:spPr>
          <a:xfrm xmlns:a="http://schemas.openxmlformats.org/drawingml/2006/main">
            <a:off x="8858250" y="180975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4EFE5"/>
                </a:solidFill>
                <a:latin typeface="Aptos"/>
                <a:ea typeface="Aptos"/>
                <a:cs typeface="Aptos"/>
              </a:defRPr>
            </a:pPr>
            <a:r>
              <a:rPr sz="2175" b="1">
                <a:solidFill>
                  <a:srgbClr val="F4EFE5"/>
                </a:solidFill>
                <a:latin typeface="Aptos"/>
                <a:ea typeface="Aptos"/>
                <a:cs typeface="Aptos"/>
              </a:rPr>
              <a:t>Coordinator</a:t>
            </a:r>
          </a:p>
        </p:txBody>
      </p:sp>
      <p:sp>
        <p:nvSpPr>
          <p:cNvPr id="6" name="">
            <a:extLst xmlns:a="http://schemas.openxmlformats.org/drawingml/2006/main">
              <a:ext uri="{FF2B5EF4-FFF2-40B4-BE49-F238E27FC236}">
                <a16:creationId xmlns:a16="http://schemas.microsoft.com/office/drawing/2014/main" id="{02BA858A-F4E5-4B11-8912-7D1A82F19006}"/>
              </a:ext>
            </a:extLst>
          </p:cNvPr>
          <p:cNvSpPr>
            <a:spLocks xmlns:a="http://schemas.openxmlformats.org/drawingml/2006/main" noGrp="1"/>
          </p:cNvSpPr>
          <p:nvPr/>
        </p:nvSpPr>
        <p:spPr>
          <a:xfrm xmlns:a="http://schemas.openxmlformats.org/drawingml/2006/main">
            <a:off x="8858250" y="2200275"/>
            <a:ext cx="2714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FD7CA"/>
                </a:solidFill>
                <a:latin typeface="Aptos"/>
                <a:ea typeface="Aptos"/>
                <a:cs typeface="Aptos"/>
              </a:defRPr>
            </a:pPr>
            <a:r>
              <a:rPr sz="1725" b="0">
                <a:solidFill>
                  <a:srgbClr val="CFD7CA"/>
                </a:solidFill>
                <a:latin typeface="Aptos"/>
                <a:ea typeface="Aptos"/>
                <a:cs typeface="Aptos"/>
              </a:rPr>
              <a:t>Plan and accept</a:t>
            </a:r>
          </a:p>
        </p:txBody>
      </p:sp>
      <p:sp>
        <p:nvSpPr>
          <p:cNvPr id="7" name="">
            <a:extLst xmlns:a="http://schemas.openxmlformats.org/drawingml/2006/main">
              <a:ext uri="{FF2B5EF4-FFF2-40B4-BE49-F238E27FC236}">
                <a16:creationId xmlns:a16="http://schemas.microsoft.com/office/drawing/2014/main" id="{0B3463B8-88D1-4EED-99E4-5B895CD72BB4}"/>
              </a:ext>
            </a:extLst>
          </p:cNvPr>
          <p:cNvSpPr>
            <a:spLocks xmlns:a="http://schemas.openxmlformats.org/drawingml/2006/main" noGrp="1"/>
          </p:cNvSpPr>
          <p:nvPr/>
        </p:nvSpPr>
        <p:spPr>
          <a:xfrm xmlns:a="http://schemas.openxmlformats.org/drawingml/2006/main">
            <a:off x="8858250" y="280035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4EFE5"/>
                </a:solidFill>
                <a:latin typeface="Aptos"/>
                <a:ea typeface="Aptos"/>
                <a:cs typeface="Aptos"/>
              </a:defRPr>
            </a:pPr>
            <a:r>
              <a:rPr sz="2175" b="1">
                <a:solidFill>
                  <a:srgbClr val="F4EFE5"/>
                </a:solidFill>
                <a:latin typeface="Aptos"/>
                <a:ea typeface="Aptos"/>
                <a:cs typeface="Aptos"/>
              </a:rPr>
              <a:t>Engineer</a:t>
            </a:r>
          </a:p>
        </p:txBody>
      </p:sp>
      <p:sp>
        <p:nvSpPr>
          <p:cNvPr id="8" name="">
            <a:extLst xmlns:a="http://schemas.openxmlformats.org/drawingml/2006/main">
              <a:ext uri="{FF2B5EF4-FFF2-40B4-BE49-F238E27FC236}">
                <a16:creationId xmlns:a16="http://schemas.microsoft.com/office/drawing/2014/main" id="{09D4A371-8085-4596-8393-BA4FC68456CE}"/>
              </a:ext>
            </a:extLst>
          </p:cNvPr>
          <p:cNvSpPr>
            <a:spLocks xmlns:a="http://schemas.openxmlformats.org/drawingml/2006/main" noGrp="1"/>
          </p:cNvSpPr>
          <p:nvPr/>
        </p:nvSpPr>
        <p:spPr>
          <a:xfrm xmlns:a="http://schemas.openxmlformats.org/drawingml/2006/main">
            <a:off x="8858250" y="3190875"/>
            <a:ext cx="2714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FD7CA"/>
                </a:solidFill>
                <a:latin typeface="Aptos"/>
                <a:ea typeface="Aptos"/>
                <a:cs typeface="Aptos"/>
              </a:defRPr>
            </a:pPr>
            <a:r>
              <a:rPr sz="1725" b="0">
                <a:solidFill>
                  <a:srgbClr val="CFD7CA"/>
                </a:solidFill>
                <a:latin typeface="Aptos"/>
                <a:ea typeface="Aptos"/>
                <a:cs typeface="Aptos"/>
              </a:rPr>
              <a:t>Domain behavior</a:t>
            </a:r>
          </a:p>
        </p:txBody>
      </p:sp>
      <p:sp>
        <p:nvSpPr>
          <p:cNvPr id="9" name="">
            <a:extLst xmlns:a="http://schemas.openxmlformats.org/drawingml/2006/main">
              <a:ext uri="{FF2B5EF4-FFF2-40B4-BE49-F238E27FC236}">
                <a16:creationId xmlns:a16="http://schemas.microsoft.com/office/drawing/2014/main" id="{A5571B32-CFCE-4248-9059-437F9A25ACB1}"/>
              </a:ext>
            </a:extLst>
          </p:cNvPr>
          <p:cNvSpPr>
            <a:spLocks xmlns:a="http://schemas.openxmlformats.org/drawingml/2006/main" noGrp="1"/>
          </p:cNvSpPr>
          <p:nvPr/>
        </p:nvSpPr>
        <p:spPr>
          <a:xfrm xmlns:a="http://schemas.openxmlformats.org/drawingml/2006/main">
            <a:off x="8858250" y="379095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4EFE5"/>
                </a:solidFill>
                <a:latin typeface="Aptos"/>
                <a:ea typeface="Aptos"/>
                <a:cs typeface="Aptos"/>
              </a:defRPr>
            </a:pPr>
            <a:r>
              <a:rPr sz="2175" b="1">
                <a:solidFill>
                  <a:srgbClr val="F4EFE5"/>
                </a:solidFill>
                <a:latin typeface="Aptos"/>
                <a:ea typeface="Aptos"/>
                <a:cs typeface="Aptos"/>
              </a:rPr>
              <a:t>Experience</a:t>
            </a:r>
          </a:p>
        </p:txBody>
      </p:sp>
      <p:sp>
        <p:nvSpPr>
          <p:cNvPr id="10" name="">
            <a:extLst xmlns:a="http://schemas.openxmlformats.org/drawingml/2006/main">
              <a:ext uri="{FF2B5EF4-FFF2-40B4-BE49-F238E27FC236}">
                <a16:creationId xmlns:a16="http://schemas.microsoft.com/office/drawing/2014/main" id="{826F448D-FBC0-4453-BB32-3927E04460F7}"/>
              </a:ext>
            </a:extLst>
          </p:cNvPr>
          <p:cNvSpPr>
            <a:spLocks xmlns:a="http://schemas.openxmlformats.org/drawingml/2006/main" noGrp="1"/>
          </p:cNvSpPr>
          <p:nvPr/>
        </p:nvSpPr>
        <p:spPr>
          <a:xfrm xmlns:a="http://schemas.openxmlformats.org/drawingml/2006/main">
            <a:off x="8858250" y="4181475"/>
            <a:ext cx="2714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FD7CA"/>
                </a:solidFill>
                <a:latin typeface="Aptos"/>
                <a:ea typeface="Aptos"/>
                <a:cs typeface="Aptos"/>
              </a:defRPr>
            </a:pPr>
            <a:r>
              <a:rPr sz="1725" b="0">
                <a:solidFill>
                  <a:srgbClr val="CFD7CA"/>
                </a:solidFill>
                <a:latin typeface="Aptos"/>
                <a:ea typeface="Aptos"/>
                <a:cs typeface="Aptos"/>
              </a:rPr>
              <a:t>Product workflow</a:t>
            </a:r>
          </a:p>
        </p:txBody>
      </p:sp>
      <p:sp>
        <p:nvSpPr>
          <p:cNvPr id="11" name="">
            <a:extLst xmlns:a="http://schemas.openxmlformats.org/drawingml/2006/main">
              <a:ext uri="{FF2B5EF4-FFF2-40B4-BE49-F238E27FC236}">
                <a16:creationId xmlns:a16="http://schemas.microsoft.com/office/drawing/2014/main" id="{D22A3CFF-A99F-4488-BC91-A3CE45D99F90}"/>
              </a:ext>
            </a:extLst>
          </p:cNvPr>
          <p:cNvSpPr>
            <a:spLocks xmlns:a="http://schemas.openxmlformats.org/drawingml/2006/main" noGrp="1"/>
          </p:cNvSpPr>
          <p:nvPr/>
        </p:nvSpPr>
        <p:spPr>
          <a:xfrm xmlns:a="http://schemas.openxmlformats.org/drawingml/2006/main">
            <a:off x="8858250" y="4781550"/>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F4EFE5"/>
                </a:solidFill>
                <a:latin typeface="Aptos"/>
                <a:ea typeface="Aptos"/>
                <a:cs typeface="Aptos"/>
              </a:defRPr>
            </a:pPr>
            <a:r>
              <a:rPr sz="2175" b="1">
                <a:solidFill>
                  <a:srgbClr val="F4EFE5"/>
                </a:solidFill>
                <a:latin typeface="Aptos"/>
                <a:ea typeface="Aptos"/>
                <a:cs typeface="Aptos"/>
              </a:rPr>
              <a:t>Verifier</a:t>
            </a:r>
          </a:p>
        </p:txBody>
      </p:sp>
      <p:sp>
        <p:nvSpPr>
          <p:cNvPr id="12" name="">
            <a:extLst xmlns:a="http://schemas.openxmlformats.org/drawingml/2006/main">
              <a:ext uri="{FF2B5EF4-FFF2-40B4-BE49-F238E27FC236}">
                <a16:creationId xmlns:a16="http://schemas.microsoft.com/office/drawing/2014/main" id="{7986F135-62B8-48B1-B4C3-70212B882CB3}"/>
              </a:ext>
            </a:extLst>
          </p:cNvPr>
          <p:cNvSpPr>
            <a:spLocks xmlns:a="http://schemas.openxmlformats.org/drawingml/2006/main" noGrp="1"/>
          </p:cNvSpPr>
          <p:nvPr/>
        </p:nvSpPr>
        <p:spPr>
          <a:xfrm xmlns:a="http://schemas.openxmlformats.org/drawingml/2006/main">
            <a:off x="8858250" y="5172075"/>
            <a:ext cx="2714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FD7CA"/>
                </a:solidFill>
                <a:latin typeface="Aptos"/>
                <a:ea typeface="Aptos"/>
                <a:cs typeface="Aptos"/>
              </a:defRPr>
            </a:pPr>
            <a:r>
              <a:rPr sz="1725" b="0">
                <a:solidFill>
                  <a:srgbClr val="CFD7CA"/>
                </a:solidFill>
                <a:latin typeface="Aptos"/>
                <a:ea typeface="Aptos"/>
                <a:cs typeface="Aptos"/>
              </a:rPr>
              <a:t>Challenge and reject</a:t>
            </a:r>
          </a:p>
        </p:txBody>
      </p:sp>
      <p:sp>
        <p:nvSpPr>
          <p:cNvPr id="13" name="">
            <a:extLst xmlns:a="http://schemas.openxmlformats.org/drawingml/2006/main">
              <a:ext uri="{FF2B5EF4-FFF2-40B4-BE49-F238E27FC236}">
                <a16:creationId xmlns:a16="http://schemas.microsoft.com/office/drawing/2014/main" id="{1832B9CD-6857-49CC-B2C5-FE790DFE942C}"/>
              </a:ext>
            </a:extLst>
          </p:cNvPr>
          <p:cNvSpPr>
            <a:spLocks xmlns:a="http://schemas.openxmlformats.org/drawingml/2006/main" noGrp="1"/>
          </p:cNvSpPr>
          <p:nvPr/>
        </p:nvSpPr>
        <p:spPr>
          <a:xfrm xmlns:a="http://schemas.openxmlformats.org/drawingml/2006/main">
            <a:off x="714375" y="5981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C7D1C5"/>
                </a:solidFill>
                <a:latin typeface="Aptos"/>
                <a:ea typeface="Aptos"/>
                <a:cs typeface="Aptos"/>
              </a:defRPr>
            </a:pPr>
            <a:r>
              <a:rPr sz="1425" b="0">
                <a:solidFill>
                  <a:srgbClr val="C7D1C5"/>
                </a:solidFill>
                <a:latin typeface="Aptos"/>
                <a:ea typeface="Aptos"/>
                <a:cs typeface="Aptos"/>
              </a:rPr>
              <a:t>Actual BAND Desktop room during stage 4 review, 27 Sep 2026 at 17:49 UTC.</a:t>
            </a:r>
          </a:p>
        </p:txBody>
      </p:sp>
    </p:spTree>
    <p:extLst>
      <p:ext uri="{BB962C8B-B14F-4D97-AF65-F5344CB8AC3E}">
        <p14:creationId xmlns:p14="http://schemas.microsoft.com/office/powerpoint/2010/main" val="1022043966"/>
      </p:ext>
    </p:extLst>
  </p:cSld>
</p:sld>
</file>

<file path=ppt/slides/slide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2905313-04CB-42F7-9EE6-884C768297FA}"/>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73D32"/>
                </a:solidFill>
                <a:latin typeface="Aptos"/>
                <a:ea typeface="Aptos"/>
                <a:cs typeface="Aptos"/>
              </a:defRPr>
            </a:pPr>
            <a:r>
              <a:rPr sz="3675" b="1">
                <a:solidFill>
                  <a:srgbClr val="173D32"/>
                </a:solidFill>
                <a:latin typeface="Aptos"/>
                <a:ea typeface="Aptos"/>
                <a:cs typeface="Aptos"/>
              </a:rPr>
              <a:t>Four accepted stages</a:t>
            </a:r>
          </a:p>
        </p:txBody>
      </p:sp>
      <p:sp>
        <p:nvSpPr>
          <p:cNvPr id="2" name="">
            <a:extLst xmlns:a="http://schemas.openxmlformats.org/drawingml/2006/main">
              <a:ext uri="{FF2B5EF4-FFF2-40B4-BE49-F238E27FC236}">
                <a16:creationId xmlns:a16="http://schemas.microsoft.com/office/drawing/2014/main" id="{09370913-7596-475F-82B3-39094FA615D6}"/>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5D"/>
                </a:solidFill>
                <a:latin typeface="Aptos"/>
                <a:ea typeface="Aptos"/>
                <a:cs typeface="Aptos"/>
              </a:defRPr>
            </a:pPr>
            <a:r>
              <a:rPr sz="1125" b="0">
                <a:solidFill>
                  <a:srgbClr val="53675D"/>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D8C33D3D-7A48-441E-BE21-C1C5B0F06DA3}"/>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5D"/>
                </a:solidFill>
                <a:latin typeface="Aptos"/>
                <a:ea typeface="Aptos"/>
                <a:cs typeface="Aptos"/>
              </a:defRPr>
            </a:pPr>
            <a:r>
              <a:rPr sz="1350" b="0">
                <a:solidFill>
                  <a:srgbClr val="53675D"/>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3C69EA64-0A93-45F4-9BED-0FB4D18CA54D}"/>
              </a:ext>
            </a:extLst>
          </p:cNvPr>
          <p:cNvSpPr>
            <a:spLocks xmlns:a="http://schemas.openxmlformats.org/drawingml/2006/main" noGrp="1"/>
          </p:cNvSpPr>
          <p:nvPr/>
        </p:nvSpPr>
        <p:spPr>
          <a:xfrm xmlns:a="http://schemas.openxmlformats.org/drawingml/2006/main">
            <a:off x="714375" y="177165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6452B"/>
                </a:solidFill>
                <a:latin typeface="Aptos"/>
                <a:ea typeface="Aptos"/>
                <a:cs typeface="Aptos"/>
              </a:defRPr>
            </a:pPr>
            <a:r>
              <a:rPr sz="3150" b="1">
                <a:solidFill>
                  <a:srgbClr val="A6452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80FCDED3-6C5B-4324-89AB-844EEFEA5ED7}"/>
              </a:ext>
            </a:extLst>
          </p:cNvPr>
          <p:cNvSpPr>
            <a:spLocks xmlns:a="http://schemas.openxmlformats.org/drawingml/2006/main" noGrp="1"/>
          </p:cNvSpPr>
          <p:nvPr/>
        </p:nvSpPr>
        <p:spPr>
          <a:xfrm xmlns:a="http://schemas.openxmlformats.org/drawingml/2006/main">
            <a:off x="1762125" y="18192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2"/>
                </a:solidFill>
                <a:latin typeface="Aptos"/>
                <a:ea typeface="Aptos"/>
                <a:cs typeface="Aptos"/>
              </a:defRPr>
            </a:pPr>
            <a:r>
              <a:rPr sz="2325" b="1">
                <a:solidFill>
                  <a:srgbClr val="173D32"/>
                </a:solidFill>
                <a:latin typeface="Aptos"/>
                <a:ea typeface="Aptos"/>
                <a:cs typeface="Aptos"/>
              </a:rPr>
              <a:t>Reservations</a:t>
            </a:r>
          </a:p>
        </p:txBody>
      </p:sp>
      <p:sp>
        <p:nvSpPr>
          <p:cNvPr id="6" name="">
            <a:extLst xmlns:a="http://schemas.openxmlformats.org/drawingml/2006/main">
              <a:ext uri="{FF2B5EF4-FFF2-40B4-BE49-F238E27FC236}">
                <a16:creationId xmlns:a16="http://schemas.microsoft.com/office/drawing/2014/main" id="{45B76648-9C0A-4E0E-B2C8-6D32E816583E}"/>
              </a:ext>
            </a:extLst>
          </p:cNvPr>
          <p:cNvSpPr>
            <a:spLocks xmlns:a="http://schemas.openxmlformats.org/drawingml/2006/main" noGrp="1"/>
          </p:cNvSpPr>
          <p:nvPr/>
        </p:nvSpPr>
        <p:spPr>
          <a:xfrm xmlns:a="http://schemas.openxmlformats.org/drawingml/2006/main">
            <a:off x="9191625" y="17716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D32"/>
                </a:solidFill>
                <a:latin typeface="Aptos"/>
                <a:ea typeface="Aptos"/>
                <a:cs typeface="Aptos"/>
              </a:defRPr>
            </a:pPr>
            <a:r>
              <a:rPr sz="2775" b="1">
                <a:solidFill>
                  <a:srgbClr val="173D32"/>
                </a:solidFill>
                <a:latin typeface="Aptos"/>
                <a:ea typeface="Aptos"/>
                <a:cs typeface="Aptos"/>
              </a:rPr>
              <a:t>120 / 120</a:t>
            </a:r>
          </a:p>
        </p:txBody>
      </p:sp>
      <p:sp>
        <p:nvSpPr>
          <p:cNvPr id="7" name="">
            <a:extLst xmlns:a="http://schemas.openxmlformats.org/drawingml/2006/main">
              <a:ext uri="{FF2B5EF4-FFF2-40B4-BE49-F238E27FC236}">
                <a16:creationId xmlns:a16="http://schemas.microsoft.com/office/drawing/2014/main" id="{E141BD7D-66FA-4586-87E2-439DE2CDF969}"/>
              </a:ext>
            </a:extLst>
          </p:cNvPr>
          <p:cNvSpPr>
            <a:spLocks xmlns:a="http://schemas.openxmlformats.org/drawingml/2006/main" noGrp="1"/>
          </p:cNvSpPr>
          <p:nvPr/>
        </p:nvSpPr>
        <p:spPr>
          <a:xfrm xmlns:a="http://schemas.openxmlformats.org/drawingml/2006/main">
            <a:off x="714375" y="262890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6452B"/>
                </a:solidFill>
                <a:latin typeface="Aptos"/>
                <a:ea typeface="Aptos"/>
                <a:cs typeface="Aptos"/>
              </a:defRPr>
            </a:pPr>
            <a:r>
              <a:rPr sz="3150" b="1">
                <a:solidFill>
                  <a:srgbClr val="A6452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0321B3C2-6D9F-49FE-8E09-82F6FE343EFE}"/>
              </a:ext>
            </a:extLst>
          </p:cNvPr>
          <p:cNvSpPr>
            <a:spLocks xmlns:a="http://schemas.openxmlformats.org/drawingml/2006/main" noGrp="1"/>
          </p:cNvSpPr>
          <p:nvPr/>
        </p:nvSpPr>
        <p:spPr>
          <a:xfrm xmlns:a="http://schemas.openxmlformats.org/drawingml/2006/main">
            <a:off x="1762125" y="26765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2"/>
                </a:solidFill>
                <a:latin typeface="Aptos"/>
                <a:ea typeface="Aptos"/>
                <a:cs typeface="Aptos"/>
              </a:defRPr>
            </a:pPr>
            <a:r>
              <a:rPr sz="2325" b="1">
                <a:solidFill>
                  <a:srgbClr val="173D32"/>
                </a:solidFill>
                <a:latin typeface="Aptos"/>
                <a:ea typeface="Aptos"/>
                <a:cs typeface="Aptos"/>
              </a:rPr>
              <a:t>Online booking</a:t>
            </a:r>
          </a:p>
        </p:txBody>
      </p:sp>
      <p:sp>
        <p:nvSpPr>
          <p:cNvPr id="9" name="">
            <a:extLst xmlns:a="http://schemas.openxmlformats.org/drawingml/2006/main">
              <a:ext uri="{FF2B5EF4-FFF2-40B4-BE49-F238E27FC236}">
                <a16:creationId xmlns:a16="http://schemas.microsoft.com/office/drawing/2014/main" id="{7318A21C-877A-4CBE-ACA2-8203FCA58734}"/>
              </a:ext>
            </a:extLst>
          </p:cNvPr>
          <p:cNvSpPr>
            <a:spLocks xmlns:a="http://schemas.openxmlformats.org/drawingml/2006/main" noGrp="1"/>
          </p:cNvSpPr>
          <p:nvPr/>
        </p:nvSpPr>
        <p:spPr>
          <a:xfrm xmlns:a="http://schemas.openxmlformats.org/drawingml/2006/main">
            <a:off x="9191625" y="26289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D32"/>
                </a:solidFill>
                <a:latin typeface="Aptos"/>
                <a:ea typeface="Aptos"/>
                <a:cs typeface="Aptos"/>
              </a:defRPr>
            </a:pPr>
            <a:r>
              <a:rPr sz="2775" b="1">
                <a:solidFill>
                  <a:srgbClr val="173D32"/>
                </a:solidFill>
                <a:latin typeface="Aptos"/>
                <a:ea typeface="Aptos"/>
                <a:cs typeface="Aptos"/>
              </a:rPr>
              <a:t>145 / 145</a:t>
            </a:r>
          </a:p>
        </p:txBody>
      </p:sp>
      <p:sp>
        <p:nvSpPr>
          <p:cNvPr id="10" name="">
            <a:extLst xmlns:a="http://schemas.openxmlformats.org/drawingml/2006/main">
              <a:ext uri="{FF2B5EF4-FFF2-40B4-BE49-F238E27FC236}">
                <a16:creationId xmlns:a16="http://schemas.microsoft.com/office/drawing/2014/main" id="{7F627F07-3438-4211-8AC5-ACD7A2EE5755}"/>
              </a:ext>
            </a:extLst>
          </p:cNvPr>
          <p:cNvSpPr>
            <a:spLocks xmlns:a="http://schemas.openxmlformats.org/drawingml/2006/main" noGrp="1"/>
          </p:cNvSpPr>
          <p:nvPr/>
        </p:nvSpPr>
        <p:spPr>
          <a:xfrm xmlns:a="http://schemas.openxmlformats.org/drawingml/2006/main">
            <a:off x="714375" y="348615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6452B"/>
                </a:solidFill>
                <a:latin typeface="Aptos"/>
                <a:ea typeface="Aptos"/>
                <a:cs typeface="Aptos"/>
              </a:defRPr>
            </a:pPr>
            <a:r>
              <a:rPr sz="3150" b="1">
                <a:solidFill>
                  <a:srgbClr val="A6452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55083CCD-C310-4463-96DC-96AB063383E8}"/>
              </a:ext>
            </a:extLst>
          </p:cNvPr>
          <p:cNvSpPr>
            <a:spLocks xmlns:a="http://schemas.openxmlformats.org/drawingml/2006/main" noGrp="1"/>
          </p:cNvSpPr>
          <p:nvPr/>
        </p:nvSpPr>
        <p:spPr>
          <a:xfrm xmlns:a="http://schemas.openxmlformats.org/drawingml/2006/main">
            <a:off x="1762125" y="353377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2"/>
                </a:solidFill>
                <a:latin typeface="Aptos"/>
                <a:ea typeface="Aptos"/>
                <a:cs typeface="Aptos"/>
              </a:defRPr>
            </a:pPr>
            <a:r>
              <a:rPr sz="2325" b="1">
                <a:solidFill>
                  <a:srgbClr val="173D32"/>
                </a:solidFill>
                <a:latin typeface="Aptos"/>
                <a:ea typeface="Aptos"/>
                <a:cs typeface="Aptos"/>
              </a:rPr>
              <a:t>Policies and recurring visits</a:t>
            </a:r>
          </a:p>
        </p:txBody>
      </p:sp>
      <p:sp>
        <p:nvSpPr>
          <p:cNvPr id="12" name="">
            <a:extLst xmlns:a="http://schemas.openxmlformats.org/drawingml/2006/main">
              <a:ext uri="{FF2B5EF4-FFF2-40B4-BE49-F238E27FC236}">
                <a16:creationId xmlns:a16="http://schemas.microsoft.com/office/drawing/2014/main" id="{FBE27756-C2D4-4861-8258-DAE26F29D0E9}"/>
              </a:ext>
            </a:extLst>
          </p:cNvPr>
          <p:cNvSpPr>
            <a:spLocks xmlns:a="http://schemas.openxmlformats.org/drawingml/2006/main" noGrp="1"/>
          </p:cNvSpPr>
          <p:nvPr/>
        </p:nvSpPr>
        <p:spPr>
          <a:xfrm xmlns:a="http://schemas.openxmlformats.org/drawingml/2006/main">
            <a:off x="9191625" y="34861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D32"/>
                </a:solidFill>
                <a:latin typeface="Aptos"/>
                <a:ea typeface="Aptos"/>
                <a:cs typeface="Aptos"/>
              </a:defRPr>
            </a:pPr>
            <a:r>
              <a:rPr sz="2775" b="1">
                <a:solidFill>
                  <a:srgbClr val="173D32"/>
                </a:solidFill>
                <a:latin typeface="Aptos"/>
                <a:ea typeface="Aptos"/>
                <a:cs typeface="Aptos"/>
              </a:rPr>
              <a:t>152 / 152</a:t>
            </a:r>
          </a:p>
        </p:txBody>
      </p:sp>
      <p:sp>
        <p:nvSpPr>
          <p:cNvPr id="13" name="">
            <a:extLst xmlns:a="http://schemas.openxmlformats.org/drawingml/2006/main">
              <a:ext uri="{FF2B5EF4-FFF2-40B4-BE49-F238E27FC236}">
                <a16:creationId xmlns:a16="http://schemas.microsoft.com/office/drawing/2014/main" id="{E97119C2-32F6-4BCD-9E71-218D3A48D7F4}"/>
              </a:ext>
            </a:extLst>
          </p:cNvPr>
          <p:cNvSpPr>
            <a:spLocks xmlns:a="http://schemas.openxmlformats.org/drawingml/2006/main" noGrp="1"/>
          </p:cNvSpPr>
          <p:nvPr/>
        </p:nvSpPr>
        <p:spPr>
          <a:xfrm xmlns:a="http://schemas.openxmlformats.org/drawingml/2006/main">
            <a:off x="714375" y="4343400"/>
            <a:ext cx="809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6452B"/>
                </a:solidFill>
                <a:latin typeface="Aptos"/>
                <a:ea typeface="Aptos"/>
                <a:cs typeface="Aptos"/>
              </a:defRPr>
            </a:pPr>
            <a:r>
              <a:rPr sz="3150" b="1">
                <a:solidFill>
                  <a:srgbClr val="A6452B"/>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09C83838-7BF8-4E19-B659-B86AAA0D0E05}"/>
              </a:ext>
            </a:extLst>
          </p:cNvPr>
          <p:cNvSpPr>
            <a:spLocks xmlns:a="http://schemas.openxmlformats.org/drawingml/2006/main" noGrp="1"/>
          </p:cNvSpPr>
          <p:nvPr/>
        </p:nvSpPr>
        <p:spPr>
          <a:xfrm xmlns:a="http://schemas.openxmlformats.org/drawingml/2006/main">
            <a:off x="1762125" y="43910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2"/>
                </a:solidFill>
                <a:latin typeface="Aptos"/>
                <a:ea typeface="Aptos"/>
                <a:cs typeface="Aptos"/>
              </a:defRPr>
            </a:pPr>
            <a:r>
              <a:rPr sz="2325" b="1">
                <a:solidFill>
                  <a:srgbClr val="173D32"/>
                </a:solidFill>
                <a:latin typeface="Aptos"/>
                <a:ea typeface="Aptos"/>
                <a:cs typeface="Aptos"/>
              </a:rPr>
              <a:t>Closure recovery</a:t>
            </a:r>
          </a:p>
        </p:txBody>
      </p:sp>
      <p:sp>
        <p:nvSpPr>
          <p:cNvPr id="15" name="">
            <a:extLst xmlns:a="http://schemas.openxmlformats.org/drawingml/2006/main">
              <a:ext uri="{FF2B5EF4-FFF2-40B4-BE49-F238E27FC236}">
                <a16:creationId xmlns:a16="http://schemas.microsoft.com/office/drawing/2014/main" id="{D40518EF-0BC8-4912-9852-1C920A189F8A}"/>
              </a:ext>
            </a:extLst>
          </p:cNvPr>
          <p:cNvSpPr>
            <a:spLocks xmlns:a="http://schemas.openxmlformats.org/drawingml/2006/main" noGrp="1"/>
          </p:cNvSpPr>
          <p:nvPr/>
        </p:nvSpPr>
        <p:spPr>
          <a:xfrm xmlns:a="http://schemas.openxmlformats.org/drawingml/2006/main">
            <a:off x="9191625" y="43434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3D32"/>
                </a:solidFill>
                <a:latin typeface="Aptos"/>
                <a:ea typeface="Aptos"/>
                <a:cs typeface="Aptos"/>
              </a:defRPr>
            </a:pPr>
            <a:r>
              <a:rPr sz="2775" b="1">
                <a:solidFill>
                  <a:srgbClr val="173D32"/>
                </a:solidFill>
                <a:latin typeface="Aptos"/>
                <a:ea typeface="Aptos"/>
                <a:cs typeface="Aptos"/>
              </a:rPr>
              <a:t>158 / 158</a:t>
            </a:r>
          </a:p>
        </p:txBody>
      </p:sp>
      <p:sp>
        <p:nvSpPr>
          <p:cNvPr id="16" name="">
            <a:extLst xmlns:a="http://schemas.openxmlformats.org/drawingml/2006/main">
              <a:ext uri="{FF2B5EF4-FFF2-40B4-BE49-F238E27FC236}">
                <a16:creationId xmlns:a16="http://schemas.microsoft.com/office/drawing/2014/main" id="{4E812971-9589-4D51-B7A4-6295A192C63C}"/>
              </a:ext>
            </a:extLst>
          </p:cNvPr>
          <p:cNvSpPr>
            <a:spLocks xmlns:a="http://schemas.openxmlformats.org/drawingml/2006/main" noGrp="1"/>
          </p:cNvSpPr>
          <p:nvPr/>
        </p:nvSpPr>
        <p:spPr>
          <a:xfrm xmlns:a="http://schemas.openxmlformats.org/drawingml/2006/main">
            <a:off x="714375" y="55149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6452B"/>
                </a:solidFill>
                <a:latin typeface="Aptos"/>
                <a:ea typeface="Aptos"/>
                <a:cs typeface="Aptos"/>
              </a:defRPr>
            </a:pPr>
            <a:r>
              <a:rPr sz="1950" b="1">
                <a:solidFill>
                  <a:srgbClr val="A6452B"/>
                </a:solidFill>
                <a:latin typeface="Aptos"/>
                <a:ea typeface="Aptos"/>
                <a:cs typeface="Aptos"/>
              </a:rPr>
              <a:t>Published checks passed in both isolated and fresh-clone isolated runs.</a:t>
            </a:r>
          </a:p>
        </p:txBody>
      </p:sp>
      <p:sp>
        <p:nvSpPr>
          <p:cNvPr id="17" name="">
            <a:extLst xmlns:a="http://schemas.openxmlformats.org/drawingml/2006/main">
              <a:ext uri="{FF2B5EF4-FFF2-40B4-BE49-F238E27FC236}">
                <a16:creationId xmlns:a16="http://schemas.microsoft.com/office/drawing/2014/main" id="{374075DF-196D-4FD8-B220-FF8AB8C285CE}"/>
              </a:ext>
            </a:extLst>
          </p:cNvPr>
          <p:cNvSpPr>
            <a:spLocks xmlns:a="http://schemas.openxmlformats.org/drawingml/2006/main" noGrp="1"/>
          </p:cNvSpPr>
          <p:nvPr/>
        </p:nvSpPr>
        <p:spPr>
          <a:xfrm xmlns:a="http://schemas.openxmlformats.org/drawingml/2006/main">
            <a:off x="714375"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75D"/>
                </a:solidFill>
                <a:latin typeface="Aptos"/>
                <a:ea typeface="Aptos"/>
                <a:cs typeface="Aptos"/>
              </a:defRPr>
            </a:pPr>
            <a:r>
              <a:rPr sz="1500" b="0">
                <a:solidFill>
                  <a:srgbClr val="53675D"/>
                </a:solidFill>
                <a:latin typeface="Aptos"/>
                <a:ea typeface="Aptos"/>
                <a:cs typeface="Aptos"/>
              </a:rPr>
              <a:t>Each stage includes inherited suites. These counts are not distinct requirements.</a:t>
            </a:r>
          </a:p>
        </p:txBody>
      </p:sp>
    </p:spTree>
    <p:extLst>
      <p:ext uri="{BB962C8B-B14F-4D97-AF65-F5344CB8AC3E}">
        <p14:creationId xmlns:p14="http://schemas.microsoft.com/office/powerpoint/2010/main" val="1622925441"/>
      </p:ext>
    </p:extLst>
  </p:cSld>
</p:sld>
</file>

<file path=ppt/slides/slide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4E0437-7F23-4046-8659-35D864AFC7AE}"/>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73D32"/>
                </a:solidFill>
                <a:latin typeface="Aptos"/>
                <a:ea typeface="Aptos"/>
                <a:cs typeface="Aptos"/>
              </a:defRPr>
            </a:pPr>
            <a:r>
              <a:rPr sz="3675" b="1">
                <a:solidFill>
                  <a:srgbClr val="173D32"/>
                </a:solidFill>
                <a:latin typeface="Aptos"/>
                <a:ea typeface="Aptos"/>
                <a:cs typeface="Aptos"/>
              </a:rPr>
              <a:t>A real seating repair preview</a:t>
            </a:r>
          </a:p>
        </p:txBody>
      </p:sp>
      <p:sp>
        <p:nvSpPr>
          <p:cNvPr id="2" name="">
            <a:extLst xmlns:a="http://schemas.openxmlformats.org/drawingml/2006/main">
              <a:ext uri="{FF2B5EF4-FFF2-40B4-BE49-F238E27FC236}">
                <a16:creationId xmlns:a16="http://schemas.microsoft.com/office/drawing/2014/main" id="{A262CD4A-06C3-49A9-9ADC-D1386B802F2D}"/>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5D"/>
                </a:solidFill>
                <a:latin typeface="Aptos"/>
                <a:ea typeface="Aptos"/>
                <a:cs typeface="Aptos"/>
              </a:defRPr>
            </a:pPr>
            <a:r>
              <a:rPr sz="1125" b="0">
                <a:solidFill>
                  <a:srgbClr val="53675D"/>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0968458F-BF05-4D3D-B5A6-54E627BAF23B}"/>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5D"/>
                </a:solidFill>
                <a:latin typeface="Aptos"/>
                <a:ea typeface="Aptos"/>
                <a:cs typeface="Aptos"/>
              </a:defRPr>
            </a:pPr>
            <a:r>
              <a:rPr sz="1350" b="0">
                <a:solidFill>
                  <a:srgbClr val="53675D"/>
                </a:solidFill>
                <a:latin typeface="Aptos"/>
                <a:ea typeface="Aptos"/>
                <a:cs typeface="Aptos"/>
              </a:rPr>
              <a:t>05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b86a954f18f4b90"/>
          <a:srcRect xmlns:a="http://schemas.openxmlformats.org/drawingml/2006/main" l="10500" t="26300" r="10500" b="56000"/>
          <a:stretch xmlns:a="http://schemas.openxmlformats.org/drawingml/2006/main">
            <a:fillRect l="0" t="0" r="0" b="0"/>
          </a:stretch>
        </p:blipFill>
        <p:spPr>
          <a:xfrm xmlns:a="http://schemas.openxmlformats.org/drawingml/2006/main">
            <a:off x="666750" y="1743075"/>
            <a:ext cx="7715250" cy="431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DFC2737-00FE-4B18-9ECF-4CD404B72F4F}"/>
              </a:ext>
            </a:extLst>
          </p:cNvPr>
          <p:cNvSpPr>
            <a:spLocks xmlns:a="http://schemas.openxmlformats.org/drawingml/2006/main" noGrp="1"/>
          </p:cNvSpPr>
          <p:nvPr/>
        </p:nvSpPr>
        <p:spPr>
          <a:xfrm xmlns:a="http://schemas.openxmlformats.org/drawingml/2006/main">
            <a:off x="8810625" y="2000250"/>
            <a:ext cx="276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A6452B"/>
                </a:solidFill>
                <a:latin typeface="Aptos"/>
                <a:ea typeface="Aptos"/>
                <a:cs typeface="Aptos"/>
              </a:defRPr>
            </a:pPr>
            <a:r>
              <a:rPr sz="2775" b="1">
                <a:solidFill>
                  <a:srgbClr val="A6452B"/>
                </a:solidFill>
                <a:latin typeface="Aptos"/>
                <a:ea typeface="Aptos"/>
                <a:cs typeface="Aptos"/>
              </a:rPr>
              <a:t>1 booking moves</a:t>
            </a:r>
          </a:p>
        </p:txBody>
      </p:sp>
      <p:sp>
        <p:nvSpPr>
          <p:cNvPr id="6" name="">
            <a:extLst xmlns:a="http://schemas.openxmlformats.org/drawingml/2006/main">
              <a:ext uri="{FF2B5EF4-FFF2-40B4-BE49-F238E27FC236}">
                <a16:creationId xmlns:a16="http://schemas.microsoft.com/office/drawing/2014/main" id="{77BBF650-BD35-4B84-8401-A87397176352}"/>
              </a:ext>
            </a:extLst>
          </p:cNvPr>
          <p:cNvSpPr>
            <a:spLocks xmlns:a="http://schemas.openxmlformats.org/drawingml/2006/main" noGrp="1"/>
          </p:cNvSpPr>
          <p:nvPr/>
        </p:nvSpPr>
        <p:spPr>
          <a:xfrm xmlns:a="http://schemas.openxmlformats.org/drawingml/2006/main">
            <a:off x="8810625" y="2943225"/>
            <a:ext cx="2667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2"/>
                </a:solidFill>
                <a:latin typeface="Aptos"/>
                <a:ea typeface="Aptos"/>
                <a:cs typeface="Aptos"/>
              </a:defRPr>
            </a:pPr>
            <a:r>
              <a:rPr sz="2175" b="0">
                <a:solidFill>
                  <a:srgbClr val="173D32"/>
                </a:solidFill>
                <a:latin typeface="Aptos"/>
                <a:ea typeface="Aptos"/>
                <a:cs typeface="Aptos"/>
              </a:rPr>
              <a:t>Window nook</a:t>
            </a:r>
          </a:p>
          <a:p xmlns:a="http://schemas.openxmlformats.org/drawingml/2006/main">
            <a:pPr>
              <a:defRPr sz="2175" b="0">
                <a:solidFill>
                  <a:srgbClr val="173D32"/>
                </a:solidFill>
                <a:latin typeface="Aptos"/>
                <a:ea typeface="Aptos"/>
                <a:cs typeface="Aptos"/>
              </a:defRPr>
            </a:pPr>
            <a:r>
              <a:rPr sz="2175" b="0">
                <a:solidFill>
                  <a:srgbClr val="173D32"/>
                </a:solidFill>
                <a:latin typeface="Aptos"/>
                <a:ea typeface="Aptos"/>
                <a:cs typeface="Aptos"/>
              </a:rPr>
              <a:t>to Garden table</a:t>
            </a:r>
          </a:p>
        </p:txBody>
      </p:sp>
      <p:sp>
        <p:nvSpPr>
          <p:cNvPr id="7" name="">
            <a:extLst xmlns:a="http://schemas.openxmlformats.org/drawingml/2006/main">
              <a:ext uri="{FF2B5EF4-FFF2-40B4-BE49-F238E27FC236}">
                <a16:creationId xmlns:a16="http://schemas.microsoft.com/office/drawing/2014/main" id="{81EA31AF-2C8B-4D0E-8C27-F92E014B4E6A}"/>
              </a:ext>
            </a:extLst>
          </p:cNvPr>
          <p:cNvSpPr>
            <a:spLocks xmlns:a="http://schemas.openxmlformats.org/drawingml/2006/main" noGrp="1"/>
          </p:cNvSpPr>
          <p:nvPr/>
        </p:nvSpPr>
        <p:spPr>
          <a:xfrm xmlns:a="http://schemas.openxmlformats.org/drawingml/2006/main">
            <a:off x="8810625" y="4143375"/>
            <a:ext cx="28098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75D"/>
                </a:solidFill>
                <a:latin typeface="Aptos"/>
                <a:ea typeface="Aptos"/>
                <a:cs typeface="Aptos"/>
              </a:defRPr>
            </a:pPr>
            <a:r>
              <a:rPr sz="1800" b="0">
                <a:solidFill>
                  <a:srgbClr val="53675D"/>
                </a:solidFill>
                <a:latin typeface="Aptos"/>
                <a:ea typeface="Aptos"/>
                <a:cs typeface="Aptos"/>
              </a:rPr>
              <a:t>Planner bounds</a:t>
            </a:r>
          </a:p>
          <a:p xmlns:a="http://schemas.openxmlformats.org/drawingml/2006/main">
            <a:pPr>
              <a:defRPr sz="1800" b="0">
                <a:solidFill>
                  <a:srgbClr val="53675D"/>
                </a:solidFill>
                <a:latin typeface="Aptos"/>
                <a:ea typeface="Aptos"/>
                <a:cs typeface="Aptos"/>
              </a:defRPr>
            </a:pPr>
            <a:r>
              <a:rPr sz="1800" b="0">
                <a:solidFill>
                  <a:srgbClr val="53675D"/>
                </a:solidFill>
                <a:latin typeface="Aptos"/>
                <a:ea typeface="Aptos"/>
                <a:cs typeface="Aptos"/>
              </a:rPr>
              <a:t>6 tables, 4 pairs</a:t>
            </a:r>
          </a:p>
          <a:p xmlns:a="http://schemas.openxmlformats.org/drawingml/2006/main">
            <a:pPr>
              <a:defRPr sz="1800" b="0">
                <a:solidFill>
                  <a:srgbClr val="53675D"/>
                </a:solidFill>
                <a:latin typeface="Aptos"/>
                <a:ea typeface="Aptos"/>
                <a:cs typeface="Aptos"/>
              </a:defRPr>
            </a:pPr>
            <a:r>
              <a:rPr sz="1800" b="0">
                <a:solidFill>
                  <a:srgbClr val="53675D"/>
                </a:solidFill>
                <a:latin typeface="Aptos"/>
                <a:ea typeface="Aptos"/>
                <a:cs typeface="Aptos"/>
              </a:rPr>
              <a:t>6 considered bookings</a:t>
            </a:r>
          </a:p>
        </p:txBody>
      </p:sp>
      <p:sp>
        <p:nvSpPr>
          <p:cNvPr id="8" name="">
            <a:extLst xmlns:a="http://schemas.openxmlformats.org/drawingml/2006/main">
              <a:ext uri="{FF2B5EF4-FFF2-40B4-BE49-F238E27FC236}">
                <a16:creationId xmlns:a16="http://schemas.microsoft.com/office/drawing/2014/main" id="{43B0314E-2381-4405-AD30-1E0C1F6621ED}"/>
              </a:ext>
            </a:extLst>
          </p:cNvPr>
          <p:cNvSpPr>
            <a:spLocks xmlns:a="http://schemas.openxmlformats.org/drawingml/2006/main" noGrp="1"/>
          </p:cNvSpPr>
          <p:nvPr/>
        </p:nvSpPr>
        <p:spPr>
          <a:xfrm xmlns:a="http://schemas.openxmlformats.org/drawingml/2006/main">
            <a:off x="714375" y="60864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6452B"/>
                </a:solidFill>
                <a:latin typeface="Aptos"/>
                <a:ea typeface="Aptos"/>
                <a:cs typeface="Aptos"/>
              </a:defRPr>
            </a:pPr>
            <a:r>
              <a:rPr sz="1500" b="1">
                <a:solidFill>
                  <a:srgbClr val="A6452B"/>
                </a:solidFill>
                <a:latin typeface="Aptos"/>
                <a:ea typeface="Aptos"/>
                <a:cs typeface="Aptos"/>
              </a:rPr>
              <a:t>Actual manager preview with synthetic bookings. Changes are not yet applied.</a:t>
            </a:r>
          </a:p>
        </p:txBody>
      </p:sp>
    </p:spTree>
    <p:extLst>
      <p:ext uri="{BB962C8B-B14F-4D97-AF65-F5344CB8AC3E}">
        <p14:creationId xmlns:p14="http://schemas.microsoft.com/office/powerpoint/2010/main" val="768598754"/>
      </p:ext>
    </p:extLst>
  </p:cSld>
</p:sld>
</file>

<file path=ppt/slides/slide6.xml><?xml version="1.0" encoding="utf-8"?>
<p:sld xmlns:p="http://schemas.openxmlformats.org/presentationml/2006/main">
  <p:cSld>
    <p:bg>
      <p:bgPr>
        <a:solidFill xmlns:a="http://schemas.openxmlformats.org/drawingml/2006/main">
          <a:srgbClr val="173D3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8328CA-0387-419B-8389-6D3AC0A4AFBD}"/>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4EFE5"/>
                </a:solidFill>
                <a:latin typeface="Aptos"/>
                <a:ea typeface="Aptos"/>
                <a:cs typeface="Aptos"/>
              </a:defRPr>
            </a:pPr>
            <a:r>
              <a:rPr sz="3675" b="1">
                <a:solidFill>
                  <a:srgbClr val="F4EFE5"/>
                </a:solidFill>
                <a:latin typeface="Aptos"/>
                <a:ea typeface="Aptos"/>
                <a:cs typeface="Aptos"/>
              </a:rPr>
              <a:t>Independent review caught a hidden failure</a:t>
            </a:r>
          </a:p>
        </p:txBody>
      </p:sp>
      <p:sp>
        <p:nvSpPr>
          <p:cNvPr id="2" name="">
            <a:extLst xmlns:a="http://schemas.openxmlformats.org/drawingml/2006/main">
              <a:ext uri="{FF2B5EF4-FFF2-40B4-BE49-F238E27FC236}">
                <a16:creationId xmlns:a16="http://schemas.microsoft.com/office/drawing/2014/main" id="{F4EA0FCF-BA15-4249-80B9-04343ABD902B}"/>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2C1B8"/>
                </a:solidFill>
                <a:latin typeface="Aptos"/>
                <a:ea typeface="Aptos"/>
                <a:cs typeface="Aptos"/>
              </a:defRPr>
            </a:pPr>
            <a:r>
              <a:rPr sz="1125" b="0">
                <a:solidFill>
                  <a:srgbClr val="B2C1B8"/>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A5CDF70C-66F3-408B-98F7-B995DC3A23EB}"/>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1B8"/>
                </a:solidFill>
                <a:latin typeface="Aptos"/>
                <a:ea typeface="Aptos"/>
                <a:cs typeface="Aptos"/>
              </a:defRPr>
            </a:pPr>
            <a:r>
              <a:rPr sz="1350" b="0">
                <a:solidFill>
                  <a:srgbClr val="B2C1B8"/>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23506A8F-8D53-4103-B6C7-218B5C3B8B21}"/>
              </a:ext>
            </a:extLst>
          </p:cNvPr>
          <p:cNvSpPr>
            <a:spLocks xmlns:a="http://schemas.openxmlformats.org/drawingml/2006/main" noGrp="1"/>
          </p:cNvSpPr>
          <p:nvPr/>
        </p:nvSpPr>
        <p:spPr>
          <a:xfrm xmlns:a="http://schemas.openxmlformats.org/drawingml/2006/main">
            <a:off x="714375" y="17621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4EFE5"/>
                </a:solidFill>
                <a:latin typeface="Aptos"/>
                <a:ea typeface="Aptos"/>
                <a:cs typeface="Aptos"/>
              </a:defRPr>
            </a:pPr>
            <a:r>
              <a:rPr sz="2325" b="0">
                <a:solidFill>
                  <a:srgbClr val="F4EFE5"/>
                </a:solidFill>
                <a:latin typeface="Aptos"/>
                <a:ea typeface="Aptos"/>
                <a:cs typeface="Aptos"/>
              </a:rPr>
              <a:t>The published checks passed. A corrupted restore still erased</a:t>
            </a:r>
          </a:p>
          <a:p xmlns:a="http://schemas.openxmlformats.org/drawingml/2006/main">
            <a:pPr>
              <a:defRPr sz="2325" b="0">
                <a:solidFill>
                  <a:srgbClr val="F4EFE5"/>
                </a:solidFill>
                <a:latin typeface="Aptos"/>
                <a:ea typeface="Aptos"/>
                <a:cs typeface="Aptos"/>
              </a:defRPr>
            </a:pPr>
            <a:r>
              <a:rPr sz="2325" b="0">
                <a:solidFill>
                  <a:srgbClr val="F4EFE5"/>
                </a:solidFill>
                <a:latin typeface="Aptos"/>
                <a:ea typeface="Aptos"/>
                <a:cs typeface="Aptos"/>
              </a:rPr>
              <a:t>a permanent exception on a manually changed recurring visit.</a:t>
            </a:r>
          </a:p>
        </p:txBody>
      </p:sp>
      <p:sp>
        <p:nvSpPr>
          <p:cNvPr id="5" name="">
            <a:extLst xmlns:a="http://schemas.openxmlformats.org/drawingml/2006/main">
              <a:ext uri="{FF2B5EF4-FFF2-40B4-BE49-F238E27FC236}">
                <a16:creationId xmlns:a16="http://schemas.microsoft.com/office/drawing/2014/main" id="{C2F563BB-6994-4AE2-91E6-A7403EE47B45}"/>
              </a:ext>
            </a:extLst>
          </p:cNvPr>
          <p:cNvSpPr>
            <a:spLocks xmlns:a="http://schemas.openxmlformats.org/drawingml/2006/main" noGrp="1"/>
          </p:cNvSpPr>
          <p:nvPr/>
        </p:nvSpPr>
        <p:spPr>
          <a:xfrm xmlns:a="http://schemas.openxmlformats.org/drawingml/2006/main">
            <a:off x="714375" y="31527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EFE5"/>
                </a:solidFill>
                <a:latin typeface="Aptos"/>
                <a:ea typeface="Aptos"/>
                <a:cs typeface="Aptos"/>
              </a:defRPr>
            </a:pPr>
            <a:r>
              <a:rPr sz="2550" b="1">
                <a:solidFill>
                  <a:srgbClr val="F4EFE5"/>
                </a:solidFill>
                <a:latin typeface="Aptos"/>
                <a:ea typeface="Aptos"/>
                <a:cs typeface="Aptos"/>
              </a:rPr>
              <a:t>Rejected</a:t>
            </a:r>
          </a:p>
        </p:txBody>
      </p:sp>
      <p:sp>
        <p:nvSpPr>
          <p:cNvPr id="6" name="">
            <a:extLst xmlns:a="http://schemas.openxmlformats.org/drawingml/2006/main">
              <a:ext uri="{FF2B5EF4-FFF2-40B4-BE49-F238E27FC236}">
                <a16:creationId xmlns:a16="http://schemas.microsoft.com/office/drawing/2014/main" id="{F936DFB3-3F24-49A4-BDF9-9FE243FFA5AB}"/>
              </a:ext>
            </a:extLst>
          </p:cNvPr>
          <p:cNvSpPr>
            <a:spLocks xmlns:a="http://schemas.openxmlformats.org/drawingml/2006/main" noGrp="1"/>
          </p:cNvSpPr>
          <p:nvPr/>
        </p:nvSpPr>
        <p:spPr>
          <a:xfrm xmlns:a="http://schemas.openxmlformats.org/drawingml/2006/main">
            <a:off x="714375" y="385762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Verifier added a regression</a:t>
            </a:r>
          </a:p>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and held the release.</a:t>
            </a:r>
          </a:p>
        </p:txBody>
      </p:sp>
      <p:sp>
        <p:nvSpPr>
          <p:cNvPr id="7" name="">
            <a:extLst xmlns:a="http://schemas.openxmlformats.org/drawingml/2006/main">
              <a:ext uri="{FF2B5EF4-FFF2-40B4-BE49-F238E27FC236}">
                <a16:creationId xmlns:a16="http://schemas.microsoft.com/office/drawing/2014/main" id="{62866021-F32D-45E6-9172-59519713FE65}"/>
              </a:ext>
            </a:extLst>
          </p:cNvPr>
          <p:cNvSpPr>
            <a:spLocks xmlns:a="http://schemas.openxmlformats.org/drawingml/2006/main" noGrp="1"/>
          </p:cNvSpPr>
          <p:nvPr/>
        </p:nvSpPr>
        <p:spPr>
          <a:xfrm xmlns:a="http://schemas.openxmlformats.org/drawingml/2006/main">
            <a:off x="4381500" y="31527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EFE5"/>
                </a:solidFill>
                <a:latin typeface="Aptos"/>
                <a:ea typeface="Aptos"/>
                <a:cs typeface="Aptos"/>
              </a:defRPr>
            </a:pPr>
            <a:r>
              <a:rPr sz="2550" b="1">
                <a:solidFill>
                  <a:srgbClr val="F4EFE5"/>
                </a:solidFill>
                <a:latin typeface="Aptos"/>
                <a:ea typeface="Aptos"/>
                <a:cs typeface="Aptos"/>
              </a:rPr>
              <a:t>Repaired</a:t>
            </a:r>
          </a:p>
        </p:txBody>
      </p:sp>
      <p:sp>
        <p:nvSpPr>
          <p:cNvPr id="8" name="">
            <a:extLst xmlns:a="http://schemas.openxmlformats.org/drawingml/2006/main">
              <a:ext uri="{FF2B5EF4-FFF2-40B4-BE49-F238E27FC236}">
                <a16:creationId xmlns:a16="http://schemas.microsoft.com/office/drawing/2014/main" id="{F82DE6AC-D84B-461C-BC22-10A50CAC2572}"/>
              </a:ext>
            </a:extLst>
          </p:cNvPr>
          <p:cNvSpPr>
            <a:spLocks xmlns:a="http://schemas.openxmlformats.org/drawingml/2006/main" noGrp="1"/>
          </p:cNvSpPr>
          <p:nvPr/>
        </p:nvSpPr>
        <p:spPr>
          <a:xfrm xmlns:a="http://schemas.openxmlformats.org/drawingml/2006/main">
            <a:off x="4381500" y="385762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Engineer checked exception</a:t>
            </a:r>
          </a:p>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flags against amendment</a:t>
            </a:r>
          </a:p>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history.</a:t>
            </a:r>
          </a:p>
        </p:txBody>
      </p:sp>
      <p:sp>
        <p:nvSpPr>
          <p:cNvPr id="9" name="">
            <a:extLst xmlns:a="http://schemas.openxmlformats.org/drawingml/2006/main">
              <a:ext uri="{FF2B5EF4-FFF2-40B4-BE49-F238E27FC236}">
                <a16:creationId xmlns:a16="http://schemas.microsoft.com/office/drawing/2014/main" id="{AD8759CA-C0AC-42DE-A999-DBAE5B0DB771}"/>
              </a:ext>
            </a:extLst>
          </p:cNvPr>
          <p:cNvSpPr>
            <a:spLocks xmlns:a="http://schemas.openxmlformats.org/drawingml/2006/main" noGrp="1"/>
          </p:cNvSpPr>
          <p:nvPr/>
        </p:nvSpPr>
        <p:spPr>
          <a:xfrm xmlns:a="http://schemas.openxmlformats.org/drawingml/2006/main">
            <a:off x="8096250" y="31527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EFE5"/>
                </a:solidFill>
                <a:latin typeface="Aptos"/>
                <a:ea typeface="Aptos"/>
                <a:cs typeface="Aptos"/>
              </a:defRPr>
            </a:pPr>
            <a:r>
              <a:rPr sz="2550" b="1">
                <a:solidFill>
                  <a:srgbClr val="F4EFE5"/>
                </a:solidFill>
                <a:latin typeface="Aptos"/>
                <a:ea typeface="Aptos"/>
                <a:cs typeface="Aptos"/>
              </a:rPr>
              <a:t>Rechecked</a:t>
            </a:r>
          </a:p>
        </p:txBody>
      </p:sp>
      <p:sp>
        <p:nvSpPr>
          <p:cNvPr id="10" name="">
            <a:extLst xmlns:a="http://schemas.openxmlformats.org/drawingml/2006/main">
              <a:ext uri="{FF2B5EF4-FFF2-40B4-BE49-F238E27FC236}">
                <a16:creationId xmlns:a16="http://schemas.microsoft.com/office/drawing/2014/main" id="{C94B6C76-6374-4CE5-8D14-B767B7EDD602}"/>
              </a:ext>
            </a:extLst>
          </p:cNvPr>
          <p:cNvSpPr>
            <a:spLocks xmlns:a="http://schemas.openxmlformats.org/drawingml/2006/main" noGrp="1"/>
          </p:cNvSpPr>
          <p:nvPr/>
        </p:nvSpPr>
        <p:spPr>
          <a:xfrm xmlns:a="http://schemas.openxmlformats.org/drawingml/2006/main">
            <a:off x="8096250" y="3857625"/>
            <a:ext cx="333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Independent checks passed,</a:t>
            </a:r>
          </a:p>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including the original</a:t>
            </a:r>
          </a:p>
          <a:p xmlns:a="http://schemas.openxmlformats.org/drawingml/2006/main">
            <a:pPr>
              <a:defRPr sz="1950" b="0">
                <a:solidFill>
                  <a:srgbClr val="CFD7CA"/>
                </a:solidFill>
                <a:latin typeface="Aptos"/>
                <a:ea typeface="Aptos"/>
                <a:cs typeface="Aptos"/>
              </a:defRPr>
            </a:pPr>
            <a:r>
              <a:rPr sz="1950" b="0">
                <a:solidFill>
                  <a:srgbClr val="CFD7CA"/>
                </a:solidFill>
                <a:latin typeface="Aptos"/>
                <a:ea typeface="Aptos"/>
                <a:cs typeface="Aptos"/>
              </a:rPr>
              <a:t>corruption regression.</a:t>
            </a:r>
          </a:p>
        </p:txBody>
      </p:sp>
      <p:sp>
        <p:nvSpPr>
          <p:cNvPr id="11" name="">
            <a:extLst xmlns:a="http://schemas.openxmlformats.org/drawingml/2006/main">
              <a:ext uri="{FF2B5EF4-FFF2-40B4-BE49-F238E27FC236}">
                <a16:creationId xmlns:a16="http://schemas.microsoft.com/office/drawing/2014/main" id="{1423DEC2-0AB3-4C9F-9A8D-00CD35204043}"/>
              </a:ext>
            </a:extLst>
          </p:cNvPr>
          <p:cNvSpPr>
            <a:spLocks xmlns:a="http://schemas.openxmlformats.org/drawingml/2006/main" noGrp="1"/>
          </p:cNvSpPr>
          <p:nvPr/>
        </p:nvSpPr>
        <p:spPr>
          <a:xfrm xmlns:a="http://schemas.openxmlformats.org/drawingml/2006/main">
            <a:off x="714375"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FD7CA"/>
                </a:solidFill>
                <a:latin typeface="Aptos"/>
                <a:ea typeface="Aptos"/>
                <a:cs typeface="Aptos"/>
              </a:defRPr>
            </a:pPr>
            <a:r>
              <a:rPr sz="1725" b="0">
                <a:solidFill>
                  <a:srgbClr val="CFD7CA"/>
                </a:solidFill>
                <a:latin typeface="Aptos"/>
                <a:ea typeface="Aptos"/>
                <a:cs typeface="Aptos"/>
              </a:rPr>
              <a:t>Stage 3 accepted at 8a12344. The failed review and original fix remain inspectable.</a:t>
            </a:r>
          </a:p>
        </p:txBody>
      </p:sp>
    </p:spTree>
    <p:extLst>
      <p:ext uri="{BB962C8B-B14F-4D97-AF65-F5344CB8AC3E}">
        <p14:creationId xmlns:p14="http://schemas.microsoft.com/office/powerpoint/2010/main" val="2117457509"/>
      </p:ext>
    </p:extLst>
  </p:cSld>
</p:sld>
</file>

<file path=ppt/slides/slide7.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58D536-D086-4A40-AEB3-ED88A9FF1971}"/>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73D32"/>
                </a:solidFill>
                <a:latin typeface="Aptos"/>
                <a:ea typeface="Aptos"/>
                <a:cs typeface="Aptos"/>
              </a:defRPr>
            </a:pPr>
            <a:r>
              <a:rPr sz="3675" b="1">
                <a:solidFill>
                  <a:srgbClr val="173D32"/>
                </a:solidFill>
                <a:latin typeface="Aptos"/>
                <a:ea typeface="Aptos"/>
                <a:cs typeface="Aptos"/>
              </a:rPr>
              <a:t>A small restaurant business to validate</a:t>
            </a:r>
          </a:p>
        </p:txBody>
      </p:sp>
      <p:sp>
        <p:nvSpPr>
          <p:cNvPr id="2" name="">
            <a:extLst xmlns:a="http://schemas.openxmlformats.org/drawingml/2006/main">
              <a:ext uri="{FF2B5EF4-FFF2-40B4-BE49-F238E27FC236}">
                <a16:creationId xmlns:a16="http://schemas.microsoft.com/office/drawing/2014/main" id="{A196584A-9131-4E88-9BED-18A477D8AB7E}"/>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5D"/>
                </a:solidFill>
                <a:latin typeface="Aptos"/>
                <a:ea typeface="Aptos"/>
                <a:cs typeface="Aptos"/>
              </a:defRPr>
            </a:pPr>
            <a:r>
              <a:rPr sz="1125" b="0">
                <a:solidFill>
                  <a:srgbClr val="53675D"/>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49C113C9-B19D-4D6A-AC44-2EB80403EF7B}"/>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5D"/>
                </a:solidFill>
                <a:latin typeface="Aptos"/>
                <a:ea typeface="Aptos"/>
                <a:cs typeface="Aptos"/>
              </a:defRPr>
            </a:pPr>
            <a:r>
              <a:rPr sz="1350" b="0">
                <a:solidFill>
                  <a:srgbClr val="53675D"/>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85D1072C-18B6-4DB0-980B-0A4D341C6D7A}"/>
              </a:ext>
            </a:extLst>
          </p:cNvPr>
          <p:cNvSpPr>
            <a:spLocks xmlns:a="http://schemas.openxmlformats.org/drawingml/2006/main" noGrp="1"/>
          </p:cNvSpPr>
          <p:nvPr/>
        </p:nvSpPr>
        <p:spPr>
          <a:xfrm xmlns:a="http://schemas.openxmlformats.org/drawingml/2006/main">
            <a:off x="714375" y="195262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A6452B"/>
                </a:solidFill>
                <a:latin typeface="Aptos"/>
                <a:ea typeface="Aptos"/>
                <a:cs typeface="Aptos"/>
              </a:defRPr>
            </a:pPr>
            <a:r>
              <a:rPr sz="7500" b="1">
                <a:solidFill>
                  <a:srgbClr val="A6452B"/>
                </a:solidFill>
                <a:latin typeface="Aptos"/>
                <a:ea typeface="Aptos"/>
                <a:cs typeface="Aptos"/>
              </a:rPr>
              <a:t>$79</a:t>
            </a:r>
          </a:p>
        </p:txBody>
      </p:sp>
      <p:sp>
        <p:nvSpPr>
          <p:cNvPr id="5" name="">
            <a:extLst xmlns:a="http://schemas.openxmlformats.org/drawingml/2006/main">
              <a:ext uri="{FF2B5EF4-FFF2-40B4-BE49-F238E27FC236}">
                <a16:creationId xmlns:a16="http://schemas.microsoft.com/office/drawing/2014/main" id="{B21062EA-6894-4D76-8931-38D5B61572D3}"/>
              </a:ext>
            </a:extLst>
          </p:cNvPr>
          <p:cNvSpPr>
            <a:spLocks xmlns:a="http://schemas.openxmlformats.org/drawingml/2006/main" noGrp="1"/>
          </p:cNvSpPr>
          <p:nvPr/>
        </p:nvSpPr>
        <p:spPr>
          <a:xfrm xmlns:a="http://schemas.openxmlformats.org/drawingml/2006/main">
            <a:off x="762000" y="334327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75D"/>
                </a:solidFill>
                <a:latin typeface="Aptos"/>
                <a:ea typeface="Aptos"/>
                <a:cs typeface="Aptos"/>
              </a:defRPr>
            </a:pPr>
            <a:r>
              <a:rPr sz="2100" b="0">
                <a:solidFill>
                  <a:srgbClr val="53675D"/>
                </a:solidFill>
                <a:latin typeface="Aptos"/>
                <a:ea typeface="Aptos"/>
                <a:cs typeface="Aptos"/>
              </a:rPr>
              <a:t>per location per month</a:t>
            </a:r>
          </a:p>
          <a:p xmlns:a="http://schemas.openxmlformats.org/drawingml/2006/main">
            <a:pPr>
              <a:defRPr sz="2100" b="0">
                <a:solidFill>
                  <a:srgbClr val="53675D"/>
                </a:solidFill>
                <a:latin typeface="Aptos"/>
                <a:ea typeface="Aptos"/>
                <a:cs typeface="Aptos"/>
              </a:defRPr>
            </a:pPr>
            <a:r>
              <a:rPr sz="2100" b="0">
                <a:solidFill>
                  <a:srgbClr val="53675D"/>
                </a:solidFill>
                <a:latin typeface="Aptos"/>
                <a:ea typeface="Aptos"/>
                <a:cs typeface="Aptos"/>
              </a:rPr>
              <a:t>Proposed price. No sales yet.</a:t>
            </a:r>
          </a:p>
        </p:txBody>
      </p:sp>
      <p:sp>
        <p:nvSpPr>
          <p:cNvPr id="6" name="">
            <a:extLst xmlns:a="http://schemas.openxmlformats.org/drawingml/2006/main">
              <a:ext uri="{FF2B5EF4-FFF2-40B4-BE49-F238E27FC236}">
                <a16:creationId xmlns:a16="http://schemas.microsoft.com/office/drawing/2014/main" id="{F49428D1-A62A-46C3-8EEF-97AEB1B17364}"/>
              </a:ext>
            </a:extLst>
          </p:cNvPr>
          <p:cNvSpPr>
            <a:spLocks xmlns:a="http://schemas.openxmlformats.org/drawingml/2006/main" noGrp="1"/>
          </p:cNvSpPr>
          <p:nvPr/>
        </p:nvSpPr>
        <p:spPr>
          <a:xfrm xmlns:a="http://schemas.openxmlformats.org/drawingml/2006/main">
            <a:off x="6191250" y="2000250"/>
            <a:ext cx="5286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2"/>
                </a:solidFill>
                <a:latin typeface="Aptos"/>
                <a:ea typeface="Aptos"/>
                <a:cs typeface="Aptos"/>
              </a:defRPr>
            </a:pPr>
            <a:r>
              <a:rPr sz="2550" b="1">
                <a:solidFill>
                  <a:srgbClr val="173D32"/>
                </a:solidFill>
                <a:latin typeface="Aptos"/>
                <a:ea typeface="Aptos"/>
                <a:cs typeface="Aptos"/>
              </a:rPr>
              <a:t>Direct reservations and recovery tools</a:t>
            </a:r>
          </a:p>
        </p:txBody>
      </p:sp>
      <p:sp>
        <p:nvSpPr>
          <p:cNvPr id="7" name="">
            <a:extLst xmlns:a="http://schemas.openxmlformats.org/drawingml/2006/main">
              <a:ext uri="{FF2B5EF4-FFF2-40B4-BE49-F238E27FC236}">
                <a16:creationId xmlns:a16="http://schemas.microsoft.com/office/drawing/2014/main" id="{1063F51B-2415-43A0-9990-DB275A7DEFF7}"/>
              </a:ext>
            </a:extLst>
          </p:cNvPr>
          <p:cNvSpPr>
            <a:spLocks xmlns:a="http://schemas.openxmlformats.org/drawingml/2006/main" noGrp="1"/>
          </p:cNvSpPr>
          <p:nvPr/>
        </p:nvSpPr>
        <p:spPr>
          <a:xfrm xmlns:a="http://schemas.openxmlformats.org/drawingml/2006/main">
            <a:off x="6191250" y="3114675"/>
            <a:ext cx="5286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2"/>
                </a:solidFill>
                <a:latin typeface="Aptos"/>
                <a:ea typeface="Aptos"/>
                <a:cs typeface="Aptos"/>
              </a:defRPr>
            </a:pPr>
            <a:r>
              <a:rPr sz="2100" b="0">
                <a:solidFill>
                  <a:srgbClr val="173D32"/>
                </a:solidFill>
                <a:latin typeface="Aptos"/>
                <a:ea typeface="Aptos"/>
                <a:cs typeface="Aptos"/>
              </a:rPr>
              <a:t>Start with intimate four-to-six-table</a:t>
            </a:r>
          </a:p>
          <a:p xmlns:a="http://schemas.openxmlformats.org/drawingml/2006/main">
            <a:pPr>
              <a:defRPr sz="2100" b="0">
                <a:solidFill>
                  <a:srgbClr val="173D32"/>
                </a:solidFill>
                <a:latin typeface="Aptos"/>
                <a:ea typeface="Aptos"/>
                <a:cs typeface="Aptos"/>
              </a:defRPr>
            </a:pPr>
            <a:r>
              <a:rPr sz="2100" b="0">
                <a:solidFill>
                  <a:srgbClr val="173D32"/>
                </a:solidFill>
                <a:latin typeface="Aptos"/>
                <a:ea typeface="Aptos"/>
                <a:cs typeface="Aptos"/>
              </a:rPr>
              <a:t>venues that attract their own guests.</a:t>
            </a:r>
          </a:p>
          <a:p xmlns:a="http://schemas.openxmlformats.org/drawingml/2006/main">
            <a:r>
              <a:t/>
            </a:r>
          </a:p>
          <a:p xmlns:a="http://schemas.openxmlformats.org/drawingml/2006/main">
            <a:pPr>
              <a:defRPr sz="2100" b="0">
                <a:solidFill>
                  <a:srgbClr val="173D32"/>
                </a:solidFill>
                <a:latin typeface="Aptos"/>
                <a:ea typeface="Aptos"/>
                <a:cs typeface="Aptos"/>
              </a:defRPr>
            </a:pPr>
            <a:r>
              <a:rPr sz="2100" b="0">
                <a:solidFill>
                  <a:srgbClr val="173D32"/>
                </a:solidFill>
                <a:latin typeface="Aptos"/>
                <a:ea typeface="Aptos"/>
                <a:cs typeface="Aptos"/>
              </a:rPr>
              <a:t>Test with five design partners before</a:t>
            </a:r>
          </a:p>
          <a:p xmlns:a="http://schemas.openxmlformats.org/drawingml/2006/main">
            <a:pPr>
              <a:defRPr sz="2100" b="0">
                <a:solidFill>
                  <a:srgbClr val="173D32"/>
                </a:solidFill>
                <a:latin typeface="Aptos"/>
                <a:ea typeface="Aptos"/>
                <a:cs typeface="Aptos"/>
              </a:defRPr>
            </a:pPr>
            <a:r>
              <a:rPr sz="2100" b="0">
                <a:solidFill>
                  <a:srgbClr val="173D32"/>
                </a:solidFill>
                <a:latin typeface="Aptos"/>
                <a:ea typeface="Aptos"/>
                <a:cs typeface="Aptos"/>
              </a:rPr>
              <a:t>promising a managed live service.</a:t>
            </a:r>
          </a:p>
        </p:txBody>
      </p:sp>
      <p:sp>
        <p:nvSpPr>
          <p:cNvPr id="8" name="">
            <a:extLst xmlns:a="http://schemas.openxmlformats.org/drawingml/2006/main">
              <a:ext uri="{FF2B5EF4-FFF2-40B4-BE49-F238E27FC236}">
                <a16:creationId xmlns:a16="http://schemas.microsoft.com/office/drawing/2014/main" id="{CE29EAD7-C584-443C-B86E-0943C88AC064}"/>
              </a:ext>
            </a:extLst>
          </p:cNvPr>
          <p:cNvSpPr>
            <a:spLocks xmlns:a="http://schemas.openxmlformats.org/drawingml/2006/main" noGrp="1"/>
          </p:cNvSpPr>
          <p:nvPr/>
        </p:nvSpPr>
        <p:spPr>
          <a:xfrm xmlns:a="http://schemas.openxmlformats.org/drawingml/2006/main">
            <a:off x="762000" y="5353050"/>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75D"/>
                </a:solidFill>
                <a:latin typeface="Aptos"/>
                <a:ea typeface="Aptos"/>
                <a:cs typeface="Aptos"/>
              </a:defRPr>
            </a:pPr>
            <a:r>
              <a:rPr sz="1725" b="0">
                <a:solidFill>
                  <a:srgbClr val="53675D"/>
                </a:solidFill>
                <a:latin typeface="Aptos"/>
                <a:ea typeface="Aptos"/>
                <a:cs typeface="Aptos"/>
              </a:rPr>
              <a:t>Illustrative contribution: $29.80/month before acquisition and overhead.</a:t>
            </a:r>
          </a:p>
          <a:p xmlns:a="http://schemas.openxmlformats.org/drawingml/2006/main">
            <a:pPr>
              <a:defRPr sz="1725" b="0">
                <a:solidFill>
                  <a:srgbClr val="53675D"/>
                </a:solidFill>
                <a:latin typeface="Aptos"/>
                <a:ea typeface="Aptos"/>
                <a:cs typeface="Aptos"/>
              </a:defRPr>
            </a:pPr>
            <a:r>
              <a:rPr sz="1725" b="0">
                <a:solidFill>
                  <a:srgbClr val="53675D"/>
                </a:solidFill>
                <a:latin typeface="Aptos"/>
                <a:ea typeface="Aptos"/>
                <a:cs typeface="Aptos"/>
              </a:rPr>
              <a:t>At one support hour per venue, it falls to $9.80. Support is the key risk.</a:t>
            </a:r>
          </a:p>
        </p:txBody>
      </p:sp>
    </p:spTree>
    <p:extLst>
      <p:ext uri="{BB962C8B-B14F-4D97-AF65-F5344CB8AC3E}">
        <p14:creationId xmlns:p14="http://schemas.microsoft.com/office/powerpoint/2010/main" val="229615548"/>
      </p:ext>
    </p:extLst>
  </p:cSld>
</p:sld>
</file>

<file path=ppt/slides/slide8.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C43EC4-8684-4C21-9490-A85049587F1E}"/>
              </a:ext>
            </a:extLst>
          </p:cNvPr>
          <p:cNvSpPr>
            <a:spLocks xmlns:a="http://schemas.openxmlformats.org/drawingml/2006/main" noGrp="1"/>
          </p:cNvSpPr>
          <p:nvPr/>
        </p:nvSpPr>
        <p:spPr>
          <a:xfrm xmlns:a="http://schemas.openxmlformats.org/drawingml/2006/main">
            <a:off x="666750" y="571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73D32"/>
                </a:solidFill>
                <a:latin typeface="Aptos"/>
                <a:ea typeface="Aptos"/>
                <a:cs typeface="Aptos"/>
              </a:defRPr>
            </a:pPr>
            <a:r>
              <a:rPr sz="3675" b="1">
                <a:solidFill>
                  <a:srgbClr val="173D32"/>
                </a:solidFill>
                <a:latin typeface="Aptos"/>
                <a:ea typeface="Aptos"/>
                <a:cs typeface="Aptos"/>
              </a:rPr>
              <a:t>Reproducible, with clear limits</a:t>
            </a:r>
          </a:p>
        </p:txBody>
      </p:sp>
      <p:sp>
        <p:nvSpPr>
          <p:cNvPr id="2" name="">
            <a:extLst xmlns:a="http://schemas.openxmlformats.org/drawingml/2006/main">
              <a:ext uri="{FF2B5EF4-FFF2-40B4-BE49-F238E27FC236}">
                <a16:creationId xmlns:a16="http://schemas.microsoft.com/office/drawing/2014/main" id="{98508A13-671C-4548-B37B-90138403E09A}"/>
              </a:ext>
            </a:extLst>
          </p:cNvPr>
          <p:cNvSpPr>
            <a:spLocks xmlns:a="http://schemas.openxmlformats.org/drawingml/2006/main" noGrp="1"/>
          </p:cNvSpPr>
          <p:nvPr/>
        </p:nvSpPr>
        <p:spPr>
          <a:xfrm xmlns:a="http://schemas.openxmlformats.org/drawingml/2006/main">
            <a:off x="666750" y="6334125"/>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3675D"/>
                </a:solidFill>
                <a:latin typeface="Aptos"/>
                <a:ea typeface="Aptos"/>
                <a:cs typeface="Aptos"/>
              </a:defRPr>
            </a:pPr>
            <a:r>
              <a:rPr sz="1125" b="0">
                <a:solidFill>
                  <a:srgbClr val="53675D"/>
                </a:solidFill>
                <a:latin typeface="Aptos"/>
                <a:ea typeface="Aptos"/>
                <a:cs typeface="Aptos"/>
              </a:rPr>
              <a:t>PROOFLINE  /  TABLEKEEPER</a:t>
            </a:r>
          </a:p>
        </p:txBody>
      </p:sp>
      <p:sp>
        <p:nvSpPr>
          <p:cNvPr id="3" name="">
            <a:extLst xmlns:a="http://schemas.openxmlformats.org/drawingml/2006/main">
              <a:ext uri="{FF2B5EF4-FFF2-40B4-BE49-F238E27FC236}">
                <a16:creationId xmlns:a16="http://schemas.microsoft.com/office/drawing/2014/main" id="{09883275-892D-4FED-A78B-B0551B12A08C}"/>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75D"/>
                </a:solidFill>
                <a:latin typeface="Aptos"/>
                <a:ea typeface="Aptos"/>
                <a:cs typeface="Aptos"/>
              </a:defRPr>
            </a:pPr>
            <a:r>
              <a:rPr sz="1350" b="0">
                <a:solidFill>
                  <a:srgbClr val="53675D"/>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C37B3389-552C-4654-A1F7-2ACACD7EF21E}"/>
              </a:ext>
            </a:extLst>
          </p:cNvPr>
          <p:cNvSpPr>
            <a:spLocks xmlns:a="http://schemas.openxmlformats.org/drawingml/2006/main" noGrp="1"/>
          </p:cNvSpPr>
          <p:nvPr/>
        </p:nvSpPr>
        <p:spPr>
          <a:xfrm xmlns:a="http://schemas.openxmlformats.org/drawingml/2006/main">
            <a:off x="714375" y="17621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A6452B"/>
                </a:solidFill>
                <a:latin typeface="Aptos"/>
                <a:ea typeface="Aptos"/>
                <a:cs typeface="Aptos"/>
              </a:defRPr>
            </a:pPr>
            <a:r>
              <a:rPr sz="3150" b="1">
                <a:solidFill>
                  <a:srgbClr val="A6452B"/>
                </a:solidFill>
                <a:latin typeface="Aptos"/>
                <a:ea typeface="Aptos"/>
                <a:cs typeface="Aptos"/>
              </a:rPr>
              <a:t>Fresh clone. No outbound runtime.</a:t>
            </a:r>
          </a:p>
        </p:txBody>
      </p:sp>
      <p:sp>
        <p:nvSpPr>
          <p:cNvPr id="5" name="">
            <a:extLst xmlns:a="http://schemas.openxmlformats.org/drawingml/2006/main">
              <a:ext uri="{FF2B5EF4-FFF2-40B4-BE49-F238E27FC236}">
                <a16:creationId xmlns:a16="http://schemas.microsoft.com/office/drawing/2014/main" id="{1F27D106-E023-4927-857A-8900BE2FEFC4}"/>
              </a:ext>
            </a:extLst>
          </p:cNvPr>
          <p:cNvSpPr>
            <a:spLocks xmlns:a="http://schemas.openxmlformats.org/drawingml/2006/main" noGrp="1"/>
          </p:cNvSpPr>
          <p:nvPr/>
        </p:nvSpPr>
        <p:spPr>
          <a:xfrm xmlns:a="http://schemas.openxmlformats.org/drawingml/2006/main">
            <a:off x="714375" y="2886075"/>
            <a:ext cx="7239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2"/>
                </a:solidFill>
                <a:latin typeface="Aptos"/>
                <a:ea typeface="Aptos"/>
                <a:cs typeface="Aptos"/>
              </a:defRPr>
            </a:pPr>
            <a:r>
              <a:rPr sz="2325" b="0">
                <a:solidFill>
                  <a:srgbClr val="173D32"/>
                </a:solidFill>
                <a:latin typeface="Aptos"/>
                <a:ea typeface="Aptos"/>
                <a:cs typeface="Aptos"/>
              </a:rPr>
              <a:t>2 vCPU and 2 GiB service limits</a:t>
            </a:r>
          </a:p>
          <a:p xmlns:a="http://schemas.openxmlformats.org/drawingml/2006/main">
            <a:pPr>
              <a:defRPr sz="2325" b="0">
                <a:solidFill>
                  <a:srgbClr val="173D32"/>
                </a:solidFill>
                <a:latin typeface="Aptos"/>
                <a:ea typeface="Aptos"/>
                <a:cs typeface="Aptos"/>
              </a:defRPr>
            </a:pPr>
            <a:r>
              <a:rPr sz="2325" b="0">
                <a:solidFill>
                  <a:srgbClr val="173D32"/>
                </a:solidFill>
                <a:latin typeface="Aptos"/>
                <a:ea typeface="Aptos"/>
                <a:cs typeface="Aptos"/>
              </a:rPr>
              <a:t>69 / 69 independent HTTP checks</a:t>
            </a:r>
          </a:p>
          <a:p xmlns:a="http://schemas.openxmlformats.org/drawingml/2006/main">
            <a:pPr>
              <a:defRPr sz="2325" b="0">
                <a:solidFill>
                  <a:srgbClr val="173D32"/>
                </a:solidFill>
                <a:latin typeface="Aptos"/>
                <a:ea typeface="Aptos"/>
                <a:cs typeface="Aptos"/>
              </a:defRPr>
            </a:pPr>
            <a:r>
              <a:rPr sz="2325" b="0">
                <a:solidFill>
                  <a:srgbClr val="173D32"/>
                </a:solidFill>
                <a:latin typeface="Aptos"/>
                <a:ea typeface="Aptos"/>
                <a:cs typeface="Aptos"/>
              </a:rPr>
              <a:t>24 generated planner fixtures</a:t>
            </a:r>
          </a:p>
          <a:p xmlns:a="http://schemas.openxmlformats.org/drawingml/2006/main">
            <a:pPr>
              <a:defRPr sz="2325" b="0">
                <a:solidFill>
                  <a:srgbClr val="173D32"/>
                </a:solidFill>
                <a:latin typeface="Aptos"/>
                <a:ea typeface="Aptos"/>
                <a:cs typeface="Aptos"/>
              </a:defRPr>
            </a:pPr>
            <a:r>
              <a:rPr sz="2325" b="0">
                <a:solidFill>
                  <a:srgbClr val="173D32"/>
                </a:solidFill>
                <a:latin typeface="Aptos"/>
                <a:ea typeface="Aptos"/>
                <a:cs typeface="Aptos"/>
              </a:rPr>
              <a:t>6h 24m to final report, including recovery</a:t>
            </a:r>
          </a:p>
        </p:txBody>
      </p:sp>
      <p:sp>
        <p:nvSpPr>
          <p:cNvPr id="6" name="">
            <a:extLst xmlns:a="http://schemas.openxmlformats.org/drawingml/2006/main">
              <a:ext uri="{FF2B5EF4-FFF2-40B4-BE49-F238E27FC236}">
                <a16:creationId xmlns:a16="http://schemas.microsoft.com/office/drawing/2014/main" id="{17A22318-F956-465C-89F4-CC859428FF38}"/>
              </a:ext>
            </a:extLst>
          </p:cNvPr>
          <p:cNvSpPr>
            <a:spLocks xmlns:a="http://schemas.openxmlformats.org/drawingml/2006/main" noGrp="1"/>
          </p:cNvSpPr>
          <p:nvPr/>
        </p:nvSpPr>
        <p:spPr>
          <a:xfrm xmlns:a="http://schemas.openxmlformats.org/drawingml/2006/main">
            <a:off x="8905875" y="29622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53675D"/>
                </a:solidFill>
                <a:latin typeface="Aptos"/>
                <a:ea typeface="Aptos"/>
                <a:cs typeface="Aptos"/>
              </a:defRPr>
            </a:pPr>
            <a:r>
              <a:rPr sz="1575" b="1">
                <a:solidFill>
                  <a:srgbClr val="53675D"/>
                </a:solidFill>
                <a:latin typeface="Aptos"/>
                <a:ea typeface="Aptos"/>
                <a:cs typeface="Aptos"/>
              </a:rPr>
              <a:t>BEFORE LIVE USE</a:t>
            </a:r>
          </a:p>
        </p:txBody>
      </p:sp>
      <p:sp>
        <p:nvSpPr>
          <p:cNvPr id="7" name="">
            <a:extLst xmlns:a="http://schemas.openxmlformats.org/drawingml/2006/main">
              <a:ext uri="{FF2B5EF4-FFF2-40B4-BE49-F238E27FC236}">
                <a16:creationId xmlns:a16="http://schemas.microsoft.com/office/drawing/2014/main" id="{434BF8F5-23AC-4A86-BAC2-FFA752647DDE}"/>
              </a:ext>
            </a:extLst>
          </p:cNvPr>
          <p:cNvSpPr>
            <a:spLocks xmlns:a="http://schemas.openxmlformats.org/drawingml/2006/main" noGrp="1"/>
          </p:cNvSpPr>
          <p:nvPr/>
        </p:nvSpPr>
        <p:spPr>
          <a:xfrm xmlns:a="http://schemas.openxmlformats.org/drawingml/2006/main">
            <a:off x="8905875" y="3543300"/>
            <a:ext cx="27146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2"/>
                </a:solidFill>
                <a:latin typeface="Aptos"/>
                <a:ea typeface="Aptos"/>
                <a:cs typeface="Aptos"/>
              </a:defRPr>
            </a:pPr>
            <a:r>
              <a:rPr sz="1875" b="0">
                <a:solidFill>
                  <a:srgbClr val="173D32"/>
                </a:solidFill>
                <a:latin typeface="Aptos"/>
                <a:ea typeface="Aptos"/>
                <a:cs typeface="Aptos"/>
              </a:rPr>
              <a:t>Durable state</a:t>
            </a:r>
          </a:p>
          <a:p xmlns:a="http://schemas.openxmlformats.org/drawingml/2006/main">
            <a:pPr>
              <a:defRPr sz="1875" b="0">
                <a:solidFill>
                  <a:srgbClr val="173D32"/>
                </a:solidFill>
                <a:latin typeface="Aptos"/>
                <a:ea typeface="Aptos"/>
                <a:cs typeface="Aptos"/>
              </a:defRPr>
            </a:pPr>
            <a:r>
              <a:rPr sz="1875" b="0">
                <a:solidFill>
                  <a:srgbClr val="173D32"/>
                </a:solidFill>
                <a:latin typeface="Aptos"/>
                <a:ea typeface="Aptos"/>
                <a:cs typeface="Aptos"/>
              </a:rPr>
              <a:t>Disable test controls</a:t>
            </a:r>
          </a:p>
          <a:p xmlns:a="http://schemas.openxmlformats.org/drawingml/2006/main">
            <a:pPr>
              <a:defRPr sz="1875" b="0">
                <a:solidFill>
                  <a:srgbClr val="173D32"/>
                </a:solidFill>
                <a:latin typeface="Aptos"/>
                <a:ea typeface="Aptos"/>
                <a:cs typeface="Aptos"/>
              </a:defRPr>
            </a:pPr>
            <a:r>
              <a:rPr sz="1875" b="0">
                <a:solidFill>
                  <a:srgbClr val="173D32"/>
                </a:solidFill>
                <a:latin typeface="Aptos"/>
                <a:ea typeface="Aptos"/>
                <a:cs typeface="Aptos"/>
              </a:rPr>
              <a:t>Operational validation</a:t>
            </a:r>
          </a:p>
        </p:txBody>
      </p:sp>
      <p:sp>
        <p:nvSpPr>
          <p:cNvPr id="8" name="">
            <a:extLst xmlns:a="http://schemas.openxmlformats.org/drawingml/2006/main">
              <a:ext uri="{FF2B5EF4-FFF2-40B4-BE49-F238E27FC236}">
                <a16:creationId xmlns:a16="http://schemas.microsoft.com/office/drawing/2014/main" id="{2FC51D2F-244C-4D4E-A510-605AEFBD0F07}"/>
              </a:ext>
            </a:extLst>
          </p:cNvPr>
          <p:cNvSpPr>
            <a:spLocks xmlns:a="http://schemas.openxmlformats.org/drawingml/2006/main" noGrp="1"/>
          </p:cNvSpPr>
          <p:nvPr/>
        </p:nvSpPr>
        <p:spPr>
          <a:xfrm xmlns:a="http://schemas.openxmlformats.org/drawingml/2006/main">
            <a:off x="714375" y="54483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75D"/>
                </a:solidFill>
                <a:latin typeface="Aptos"/>
                <a:ea typeface="Aptos"/>
                <a:cs typeface="Aptos"/>
              </a:defRPr>
            </a:pPr>
            <a:r>
              <a:rPr sz="1650" b="0">
                <a:solidFill>
                  <a:srgbClr val="53675D"/>
                </a:solidFill>
                <a:latin typeface="Aptos"/>
                <a:ea typeface="Aptos"/>
                <a:cs typeface="Aptos"/>
              </a:rPr>
              <a:t>Operator restarted the same BAND seats in the same room, with new provider sessions.</a:t>
            </a:r>
          </a:p>
          <a:p xmlns:a="http://schemas.openxmlformats.org/drawingml/2006/main">
            <a:pPr>
              <a:defRPr sz="1650" b="0">
                <a:solidFill>
                  <a:srgbClr val="53675D"/>
                </a:solidFill>
                <a:latin typeface="Aptos"/>
                <a:ea typeface="Aptos"/>
                <a:cs typeface="Aptos"/>
              </a:defRPr>
            </a:pPr>
            <a:r>
              <a:rPr sz="1650" b="0">
                <a:solidFill>
                  <a:srgbClr val="53675D"/>
                </a:solidFill>
                <a:latin typeface="Aptos"/>
                <a:ea typeface="Aptos"/>
                <a:cs typeface="Aptos"/>
              </a:rPr>
              <a:t>No new task or implementation hints. Provider-billed spend is unavailable.</a:t>
            </a:r>
          </a:p>
        </p:txBody>
      </p:sp>
    </p:spTree>
    <p:extLst>
      <p:ext uri="{BB962C8B-B14F-4D97-AF65-F5344CB8AC3E}">
        <p14:creationId xmlns:p14="http://schemas.microsoft.com/office/powerpoint/2010/main" val="969929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2026-09-27T18:03:58.0840000Z</dcterms:created>
  <dcterms:modified xsi:type="dcterms:W3CDTF">2026-09-27T18:03:58.0840000Z</dcterms:modified>
</coreProperties>
</file>